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7" r:id="rId2"/>
    <p:sldId id="258" r:id="rId3"/>
    <p:sldId id="275" r:id="rId4"/>
    <p:sldId id="262" r:id="rId5"/>
    <p:sldId id="281" r:id="rId6"/>
    <p:sldId id="263" r:id="rId7"/>
    <p:sldId id="264" r:id="rId8"/>
    <p:sldId id="271" r:id="rId9"/>
    <p:sldId id="273" r:id="rId10"/>
    <p:sldId id="265" r:id="rId11"/>
    <p:sldId id="272" r:id="rId12"/>
    <p:sldId id="266" r:id="rId13"/>
    <p:sldId id="276" r:id="rId14"/>
    <p:sldId id="279" r:id="rId15"/>
    <p:sldId id="277" r:id="rId16"/>
    <p:sldId id="278"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D9D0"/>
    <a:srgbClr val="6E2F1A"/>
    <a:srgbClr val="D1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2" d="100"/>
          <a:sy n="102" d="100"/>
        </p:scale>
        <p:origin x="8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8405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553F7-B8B4-D99A-2B20-E07E58DF0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A30B8-B371-AF3F-BDFA-D5D2E14AF4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D37E7-71F9-4B0E-255C-6CD95C04EA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37DAB0-76B4-56FA-F724-5D49365069D2}"/>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4132242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97D60-C40C-2B25-CD2E-DF8484DD4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BCF0D-11D8-0674-3098-D4A5F7CECC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ED4C67-1E59-8C04-2DD5-A5BFE59DB8D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08637B-FA7D-510B-7B09-AFE6807F2C38}"/>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070656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71BEBC-F3CC-5BCC-8363-D3B511196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C4ABB1-675B-47B8-5BFB-617D80F79C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8E170C-9C78-A3E8-81F3-4300E05D1D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7CDA0C-C516-5671-C1F0-96E44F67128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11800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7C708-5CED-83DF-D79A-C452C6DD9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1488D-DB69-D4E9-E275-88785E2CD9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B45913-BCB2-FC34-F384-7C989DB2CD9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17FD31-8A9A-1687-A136-884A48739D4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7986646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93E09-229C-B146-688E-7BF9C090A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F4B33A-B79B-1EBB-B4EF-D1F9BB8EA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A7DE4E-989A-EC55-E550-5CFC0D2C2D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53AEA1-8651-810F-3065-A69D3ABAACF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8192543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554A-7A86-ABC0-3BF6-AF0F16A13B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6BB322-3D31-5CC9-8D29-4DAC47EAFB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E8F13C-BDCB-4C5E-E288-801A76E01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5BFA3C-49D8-FB3E-B449-3D3BE2765150}"/>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706223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188CC-BAD4-6AE7-562B-F391E6EEF1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8B4C0F-D78E-47D8-38BD-8D0EA400D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B11C03-4512-9BBF-354C-000E626513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D7F420-F17F-9C9C-88A1-D89D84AA4A18}"/>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8237055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BF492-6300-BB62-7837-DA6B0674DD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69FFC9-BE89-382B-F575-6E125D26DC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17E39A-4465-B5AB-FBB7-BFAA18BC7B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1D836A-6F0B-B63A-B9CC-55CE661C9EEE}"/>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4399310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994A0-F385-285C-AAC8-07716E277E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52A867-D59D-379B-CA95-F5C5296F5A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C4CCFD-FD8E-7B37-8EAB-E895D85DFA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9D2E26-66E7-88F8-2BB4-B406C49D71A1}"/>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9232173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4.sv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22860"/>
            <a:ext cx="9144000" cy="685800"/>
          </a:xfrm>
          <a:prstGeom prst="rect">
            <a:avLst/>
          </a:prstGeom>
          <a:solidFill>
            <a:schemeClr val="accent3">
              <a:lumMod val="20000"/>
              <a:lumOff val="80000"/>
            </a:schemeClr>
          </a:solidFill>
          <a:ln w="12700">
            <a:solidFill>
              <a:schemeClr val="bg1"/>
            </a:solidFill>
            <a:prstDash val="solid"/>
          </a:ln>
        </p:spPr>
        <p:txBody>
          <a:bodyPr/>
          <a:lstStyle/>
          <a:p>
            <a:endParaRPr lang="en-IN"/>
          </a:p>
        </p:txBody>
      </p:sp>
      <p:sp>
        <p:nvSpPr>
          <p:cNvPr id="3" name="Text 1"/>
          <p:cNvSpPr/>
          <p:nvPr/>
        </p:nvSpPr>
        <p:spPr>
          <a:xfrm>
            <a:off x="2242686" y="0"/>
            <a:ext cx="6535553" cy="685800"/>
          </a:xfrm>
          <a:prstGeom prst="rect">
            <a:avLst/>
          </a:prstGeom>
          <a:noFill/>
          <a:ln/>
        </p:spPr>
        <p:txBody>
          <a:bodyPr wrap="square" rtlCol="0" anchor="ctr"/>
          <a:lstStyle/>
          <a:p>
            <a:pPr marL="0" indent="0">
              <a:buNone/>
            </a:pPr>
            <a:r>
              <a:rPr lang="en-US" sz="2400" b="1" dirty="0">
                <a:latin typeface="Calibri" pitchFamily="34" charset="0"/>
                <a:ea typeface="Calibri" pitchFamily="34" charset="-122"/>
                <a:cs typeface="Calibri" pitchFamily="34" charset="-120"/>
              </a:rPr>
              <a:t>Problem Statement &amp; Motivation</a:t>
            </a:r>
            <a:endParaRPr lang="en-US" sz="2400" dirty="0"/>
          </a:p>
        </p:txBody>
      </p:sp>
      <p:sp>
        <p:nvSpPr>
          <p:cNvPr id="6" name="Text 4"/>
          <p:cNvSpPr/>
          <p:nvPr/>
        </p:nvSpPr>
        <p:spPr>
          <a:xfrm>
            <a:off x="1554480" y="1965960"/>
            <a:ext cx="2834640" cy="411480"/>
          </a:xfrm>
          <a:prstGeom prst="rect">
            <a:avLst/>
          </a:prstGeom>
          <a:noFill/>
          <a:ln/>
        </p:spPr>
        <p:txBody>
          <a:bodyPr wrap="square" rtlCol="0" anchor="ctr"/>
          <a:lstStyle/>
          <a:p>
            <a:pPr marL="0" indent="0" algn="ctr">
              <a:buNone/>
            </a:pPr>
            <a:endParaRPr lang="en-US" sz="1400" dirty="0"/>
          </a:p>
        </p:txBody>
      </p:sp>
      <p:sp>
        <p:nvSpPr>
          <p:cNvPr id="7" name="Text 5"/>
          <p:cNvSpPr/>
          <p:nvPr/>
        </p:nvSpPr>
        <p:spPr>
          <a:xfrm>
            <a:off x="411480" y="1371600"/>
            <a:ext cx="2560320" cy="2834640"/>
          </a:xfrm>
          <a:prstGeom prst="rect">
            <a:avLst/>
          </a:prstGeom>
          <a:noFill/>
          <a:ln/>
        </p:spPr>
        <p:txBody>
          <a:bodyPr wrap="square" rtlCol="0" anchor="t"/>
          <a:lstStyle/>
          <a:p>
            <a:pPr marL="0" indent="0" algn="l">
              <a:buNone/>
            </a:pPr>
            <a:endParaRPr lang="en-US" sz="1250" dirty="0"/>
          </a:p>
        </p:txBody>
      </p:sp>
      <p:sp>
        <p:nvSpPr>
          <p:cNvPr id="8" name="Shape 6"/>
          <p:cNvSpPr/>
          <p:nvPr/>
        </p:nvSpPr>
        <p:spPr>
          <a:xfrm>
            <a:off x="1554480" y="834390"/>
            <a:ext cx="2834640" cy="356616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1554480" y="834390"/>
            <a:ext cx="2834640" cy="411480"/>
          </a:xfrm>
          <a:prstGeom prst="rect">
            <a:avLst/>
          </a:prstGeom>
          <a:solidFill>
            <a:srgbClr val="117A65"/>
          </a:solidFill>
          <a:ln w="12700">
            <a:solidFill>
              <a:srgbClr val="117A65"/>
            </a:solidFill>
            <a:prstDash val="solid"/>
          </a:ln>
        </p:spPr>
        <p:txBody>
          <a:bodyPr/>
          <a:lstStyle/>
          <a:p>
            <a:endParaRPr lang="en-IN"/>
          </a:p>
        </p:txBody>
      </p:sp>
      <p:sp>
        <p:nvSpPr>
          <p:cNvPr id="10" name="Text 8"/>
          <p:cNvSpPr/>
          <p:nvPr/>
        </p:nvSpPr>
        <p:spPr>
          <a:xfrm>
            <a:off x="1554480" y="834390"/>
            <a:ext cx="2834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Stress Detection</a:t>
            </a:r>
            <a:endParaRPr lang="en-US" sz="1400" dirty="0"/>
          </a:p>
        </p:txBody>
      </p:sp>
      <p:sp>
        <p:nvSpPr>
          <p:cNvPr id="11" name="Text 9"/>
          <p:cNvSpPr/>
          <p:nvPr/>
        </p:nvSpPr>
        <p:spPr>
          <a:xfrm>
            <a:off x="1691640" y="1337310"/>
            <a:ext cx="2560320" cy="2834640"/>
          </a:xfrm>
          <a:prstGeom prst="rect">
            <a:avLst/>
          </a:prstGeom>
          <a:noFill/>
          <a:ln/>
        </p:spPr>
        <p:txBody>
          <a:bodyPr wrap="square" rtlCol="0" anchor="t"/>
          <a:lstStyle/>
          <a:p>
            <a:pPr marL="0" indent="0">
              <a:buNone/>
            </a:pPr>
            <a:r>
              <a:rPr lang="en-US" sz="1250" dirty="0">
                <a:solidFill>
                  <a:srgbClr val="334155"/>
                </a:solidFill>
                <a:latin typeface="Calibri" pitchFamily="34" charset="0"/>
                <a:ea typeface="Calibri" pitchFamily="34" charset="-122"/>
                <a:cs typeface="Calibri" pitchFamily="34" charset="-120"/>
              </a:rPr>
              <a:t>Stress-related disorders are among the leading causes of global disability. Traditional self-report methods lack real-time, objective monitoring capability.</a:t>
            </a:r>
            <a:endParaRPr lang="en-US" sz="1250" dirty="0"/>
          </a:p>
        </p:txBody>
      </p:sp>
      <p:sp>
        <p:nvSpPr>
          <p:cNvPr id="12" name="Shape 10"/>
          <p:cNvSpPr/>
          <p:nvPr/>
        </p:nvSpPr>
        <p:spPr>
          <a:xfrm>
            <a:off x="4480560" y="834390"/>
            <a:ext cx="2834640" cy="356616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13" name="Shape 11"/>
          <p:cNvSpPr/>
          <p:nvPr/>
        </p:nvSpPr>
        <p:spPr>
          <a:xfrm>
            <a:off x="4480560" y="834390"/>
            <a:ext cx="2834640" cy="411480"/>
          </a:xfrm>
          <a:prstGeom prst="rect">
            <a:avLst/>
          </a:prstGeom>
          <a:solidFill>
            <a:srgbClr val="784212"/>
          </a:solidFill>
          <a:ln w="12700">
            <a:solidFill>
              <a:srgbClr val="784212"/>
            </a:solidFill>
            <a:prstDash val="solid"/>
          </a:ln>
        </p:spPr>
        <p:txBody>
          <a:bodyPr/>
          <a:lstStyle/>
          <a:p>
            <a:endParaRPr lang="en-IN"/>
          </a:p>
        </p:txBody>
      </p:sp>
      <p:sp>
        <p:nvSpPr>
          <p:cNvPr id="14" name="Text 12"/>
          <p:cNvSpPr/>
          <p:nvPr/>
        </p:nvSpPr>
        <p:spPr>
          <a:xfrm>
            <a:off x="4480560" y="834390"/>
            <a:ext cx="2834640" cy="41148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Emotion Recognition</a:t>
            </a:r>
            <a:endParaRPr lang="en-US" sz="1400" dirty="0"/>
          </a:p>
        </p:txBody>
      </p:sp>
      <p:sp>
        <p:nvSpPr>
          <p:cNvPr id="15" name="Text 13"/>
          <p:cNvSpPr/>
          <p:nvPr/>
        </p:nvSpPr>
        <p:spPr>
          <a:xfrm>
            <a:off x="4617720" y="1337310"/>
            <a:ext cx="2560320" cy="2834640"/>
          </a:xfrm>
          <a:prstGeom prst="rect">
            <a:avLst/>
          </a:prstGeom>
          <a:noFill/>
          <a:ln/>
        </p:spPr>
        <p:txBody>
          <a:bodyPr wrap="square" rtlCol="0" anchor="t"/>
          <a:lstStyle/>
          <a:p>
            <a:pPr marL="0" indent="0">
              <a:buNone/>
            </a:pPr>
            <a:r>
              <a:rPr lang="en-US" sz="1250" dirty="0">
                <a:solidFill>
                  <a:srgbClr val="334155"/>
                </a:solidFill>
                <a:latin typeface="Calibri" pitchFamily="34" charset="0"/>
                <a:ea typeface="Calibri" pitchFamily="34" charset="-122"/>
                <a:cs typeface="Calibri" pitchFamily="34" charset="-120"/>
              </a:rPr>
              <a:t>Existing facial/speech-based emotion systems fail in controlled or privacy-sensitive settings. Physiological signals offer a more objective alternative.</a:t>
            </a:r>
            <a:endParaRPr lang="en-US" sz="1250" dirty="0"/>
          </a:p>
        </p:txBody>
      </p:sp>
      <p:sp>
        <p:nvSpPr>
          <p:cNvPr id="16" name="Shape 14"/>
          <p:cNvSpPr/>
          <p:nvPr/>
        </p:nvSpPr>
        <p:spPr>
          <a:xfrm>
            <a:off x="274320" y="4572000"/>
            <a:ext cx="8595360" cy="411480"/>
          </a:xfrm>
          <a:prstGeom prst="rect">
            <a:avLst/>
          </a:prstGeom>
          <a:solidFill>
            <a:srgbClr val="EBF5FB"/>
          </a:solidFill>
          <a:ln w="12700">
            <a:solidFill>
              <a:srgbClr val="2E86AB"/>
            </a:solidFill>
            <a:prstDash val="solid"/>
          </a:ln>
        </p:spPr>
        <p:txBody>
          <a:bodyPr/>
          <a:lstStyle/>
          <a:p>
            <a:endParaRPr lang="en-IN"/>
          </a:p>
        </p:txBody>
      </p:sp>
      <p:sp>
        <p:nvSpPr>
          <p:cNvPr id="17" name="Text 15"/>
          <p:cNvSpPr/>
          <p:nvPr/>
        </p:nvSpPr>
        <p:spPr>
          <a:xfrm>
            <a:off x="365760" y="4572000"/>
            <a:ext cx="8412480" cy="411480"/>
          </a:xfrm>
          <a:prstGeom prst="rect">
            <a:avLst/>
          </a:prstGeom>
          <a:noFill/>
          <a:ln/>
        </p:spPr>
        <p:txBody>
          <a:bodyPr wrap="square" rtlCol="0" anchor="ctr"/>
          <a:lstStyle/>
          <a:p>
            <a:pPr marL="0" indent="0">
              <a:buNone/>
            </a:pPr>
            <a:r>
              <a:rPr lang="en-US" sz="1300" b="1" dirty="0">
                <a:solidFill>
                  <a:srgbClr val="1B4F72"/>
                </a:solidFill>
                <a:latin typeface="Calibri" pitchFamily="34" charset="0"/>
                <a:ea typeface="Calibri" pitchFamily="34" charset="-122"/>
                <a:cs typeface="Calibri" pitchFamily="34" charset="-120"/>
              </a:rPr>
              <a:t>🎯  Goal: Develop accurate, interpretable &amp; deployable AI systems for real-world clinical healthcare scenarios</a:t>
            </a:r>
            <a:endParaRPr lang="en-US" sz="1300" dirty="0"/>
          </a:p>
        </p:txBody>
      </p:sp>
      <p:pic>
        <p:nvPicPr>
          <p:cNvPr id="19" name="Picture 18">
            <a:extLst>
              <a:ext uri="{FF2B5EF4-FFF2-40B4-BE49-F238E27FC236}">
                <a16:creationId xmlns:a16="http://schemas.microsoft.com/office/drawing/2014/main" id="{29F6CA65-9DD1-0F2E-41A0-1D1148AD9778}"/>
              </a:ext>
            </a:extLst>
          </p:cNvPr>
          <p:cNvPicPr>
            <a:picLocks noChangeAspect="1"/>
          </p:cNvPicPr>
          <p:nvPr/>
        </p:nvPicPr>
        <p:blipFill>
          <a:blip r:embed="rId3"/>
          <a:stretch>
            <a:fillRect/>
          </a:stretch>
        </p:blipFill>
        <p:spPr>
          <a:xfrm>
            <a:off x="8099829" y="-8587"/>
            <a:ext cx="906787" cy="740107"/>
          </a:xfrm>
          <a:prstGeom prst="rect">
            <a:avLst/>
          </a:prstGeom>
        </p:spPr>
      </p:pic>
      <p:pic>
        <p:nvPicPr>
          <p:cNvPr id="23" name="Picture 22">
            <a:extLst>
              <a:ext uri="{FF2B5EF4-FFF2-40B4-BE49-F238E27FC236}">
                <a16:creationId xmlns:a16="http://schemas.microsoft.com/office/drawing/2014/main" id="{986EB9F9-C561-C346-92F5-342FBE3BE547}"/>
              </a:ext>
            </a:extLst>
          </p:cNvPr>
          <p:cNvPicPr>
            <a:picLocks noChangeAspect="1"/>
          </p:cNvPicPr>
          <p:nvPr/>
        </p:nvPicPr>
        <p:blipFill>
          <a:blip r:embed="rId4"/>
          <a:stretch>
            <a:fillRect/>
          </a:stretch>
        </p:blipFill>
        <p:spPr>
          <a:xfrm>
            <a:off x="-77001" y="11097"/>
            <a:ext cx="1280160" cy="72042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accent3">
              <a:lumMod val="20000"/>
              <a:lumOff val="80000"/>
            </a:schemeClr>
          </a:solidFill>
          <a:ln w="12700">
            <a:solidFill>
              <a:srgbClr val="1B4F72"/>
            </a:solidFill>
            <a:prstDash val="solid"/>
          </a:ln>
        </p:spPr>
        <p:txBody>
          <a:bodyPr/>
          <a:lstStyle/>
          <a:p>
            <a:endParaRPr lang="en-IN"/>
          </a:p>
        </p:txBody>
      </p:sp>
      <p:sp>
        <p:nvSpPr>
          <p:cNvPr id="3" name="Text 1"/>
          <p:cNvSpPr/>
          <p:nvPr/>
        </p:nvSpPr>
        <p:spPr>
          <a:xfrm>
            <a:off x="2146434" y="0"/>
            <a:ext cx="6631806" cy="685800"/>
          </a:xfrm>
          <a:prstGeom prst="rect">
            <a:avLst/>
          </a:prstGeom>
          <a:noFill/>
          <a:ln/>
        </p:spPr>
        <p:txBody>
          <a:bodyPr wrap="square" rtlCol="0" anchor="ctr"/>
          <a:lstStyle/>
          <a:p>
            <a:pPr marL="0" indent="0">
              <a:buNone/>
            </a:pPr>
            <a:r>
              <a:rPr lang="en-US" sz="2400" b="1" dirty="0">
                <a:latin typeface="Calibri" pitchFamily="34" charset="0"/>
                <a:ea typeface="Calibri" pitchFamily="34" charset="-122"/>
                <a:cs typeface="Calibri" pitchFamily="34" charset="-120"/>
              </a:rPr>
              <a:t>Literature Survey &amp; Research Gaps</a:t>
            </a:r>
            <a:endParaRPr lang="en-US" sz="2400" dirty="0"/>
          </a:p>
        </p:txBody>
      </p:sp>
      <p:sp>
        <p:nvSpPr>
          <p:cNvPr id="4" name="Shape 2"/>
          <p:cNvSpPr/>
          <p:nvPr/>
        </p:nvSpPr>
        <p:spPr>
          <a:xfrm>
            <a:off x="274320" y="742617"/>
            <a:ext cx="4114800" cy="32918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5" name="Shape 3"/>
          <p:cNvSpPr/>
          <p:nvPr/>
        </p:nvSpPr>
        <p:spPr>
          <a:xfrm>
            <a:off x="274320" y="822960"/>
            <a:ext cx="4114800" cy="365760"/>
          </a:xfrm>
          <a:prstGeom prst="rect">
            <a:avLst/>
          </a:prstGeom>
          <a:solidFill>
            <a:srgbClr val="1B4F72"/>
          </a:solidFill>
          <a:ln w="12700">
            <a:solidFill>
              <a:srgbClr val="1B4F72"/>
            </a:solidFill>
            <a:prstDash val="solid"/>
          </a:ln>
        </p:spPr>
        <p:txBody>
          <a:bodyPr/>
          <a:lstStyle/>
          <a:p>
            <a:endParaRPr lang="en-IN"/>
          </a:p>
        </p:txBody>
      </p:sp>
      <p:sp>
        <p:nvSpPr>
          <p:cNvPr id="6" name="Text 4"/>
          <p:cNvSpPr/>
          <p:nvPr/>
        </p:nvSpPr>
        <p:spPr>
          <a:xfrm>
            <a:off x="274320" y="822960"/>
            <a:ext cx="411480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Existing Work</a:t>
            </a:r>
            <a:endParaRPr lang="en-US" sz="1400" dirty="0"/>
          </a:p>
        </p:txBody>
      </p:sp>
      <p:sp>
        <p:nvSpPr>
          <p:cNvPr id="7" name="Text 5"/>
          <p:cNvSpPr/>
          <p:nvPr/>
        </p:nvSpPr>
        <p:spPr>
          <a:xfrm>
            <a:off x="411480" y="1261872"/>
            <a:ext cx="3840480" cy="2743200"/>
          </a:xfrm>
          <a:prstGeom prst="rect">
            <a:avLst/>
          </a:prstGeom>
          <a:noFill/>
          <a:ln/>
        </p:spPr>
        <p:txBody>
          <a:bodyPr wrap="square" rtlCol="0" anchor="ctr"/>
          <a:lstStyle/>
          <a:p>
            <a:pPr marL="0" indent="0">
              <a:buNone/>
            </a:pPr>
            <a:r>
              <a:rPr lang="en-US" sz="1400" b="1" dirty="0">
                <a:solidFill>
                  <a:srgbClr val="334155"/>
                </a:solidFill>
                <a:latin typeface="Calibri" pitchFamily="34" charset="0"/>
                <a:ea typeface="Calibri" pitchFamily="34" charset="-122"/>
                <a:cs typeface="Calibri" pitchFamily="34" charset="-120"/>
              </a:rPr>
              <a:t>Stress Detection: </a:t>
            </a:r>
            <a:r>
              <a:rPr lang="en-US" sz="1400" dirty="0">
                <a:solidFill>
                  <a:srgbClr val="334155"/>
                </a:solidFill>
                <a:latin typeface="Calibri" pitchFamily="34" charset="0"/>
                <a:ea typeface="Calibri" pitchFamily="34" charset="-122"/>
                <a:cs typeface="Calibri" pitchFamily="34" charset="-120"/>
              </a:rPr>
              <a:t>SVM/KNN on WESAD dataset — moderate accuracy; nonlinear signal challenges
</a:t>
            </a:r>
            <a:r>
              <a:rPr lang="en-US" sz="1400" b="1" dirty="0">
                <a:solidFill>
                  <a:srgbClr val="334155"/>
                </a:solidFill>
                <a:latin typeface="Calibri" pitchFamily="34" charset="0"/>
                <a:ea typeface="Calibri" pitchFamily="34" charset="-122"/>
                <a:cs typeface="Calibri" pitchFamily="34" charset="-120"/>
              </a:rPr>
              <a:t>Emotion Recognition: </a:t>
            </a:r>
            <a:r>
              <a:rPr lang="en-US" sz="1400" dirty="0">
                <a:solidFill>
                  <a:srgbClr val="334155"/>
                </a:solidFill>
                <a:latin typeface="Calibri" pitchFamily="34" charset="0"/>
                <a:ea typeface="Calibri" pitchFamily="34" charset="-122"/>
                <a:cs typeface="Calibri" pitchFamily="34" charset="-120"/>
              </a:rPr>
              <a:t>Facial &amp; speech methods — affected by environment, privacy concerns, high compute needs</a:t>
            </a:r>
            <a:endParaRPr lang="en-US" sz="1400" dirty="0"/>
          </a:p>
        </p:txBody>
      </p:sp>
      <p:sp>
        <p:nvSpPr>
          <p:cNvPr id="8" name="Shape 6"/>
          <p:cNvSpPr/>
          <p:nvPr/>
        </p:nvSpPr>
        <p:spPr>
          <a:xfrm>
            <a:off x="4663440" y="822960"/>
            <a:ext cx="4206240" cy="32918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4663440" y="822960"/>
            <a:ext cx="4206240" cy="365760"/>
          </a:xfrm>
          <a:prstGeom prst="rect">
            <a:avLst/>
          </a:prstGeom>
          <a:solidFill>
            <a:srgbClr val="1ABC9C"/>
          </a:solidFill>
          <a:ln w="12700">
            <a:solidFill>
              <a:srgbClr val="1ABC9C"/>
            </a:solidFill>
            <a:prstDash val="solid"/>
          </a:ln>
        </p:spPr>
        <p:txBody>
          <a:bodyPr/>
          <a:lstStyle/>
          <a:p>
            <a:endParaRPr lang="en-IN"/>
          </a:p>
        </p:txBody>
      </p:sp>
      <p:sp>
        <p:nvSpPr>
          <p:cNvPr id="10" name="Text 8"/>
          <p:cNvSpPr/>
          <p:nvPr/>
        </p:nvSpPr>
        <p:spPr>
          <a:xfrm>
            <a:off x="4663440" y="822960"/>
            <a:ext cx="420624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Identified Research Gaps</a:t>
            </a:r>
            <a:endParaRPr lang="en-US" sz="1400" dirty="0"/>
          </a:p>
        </p:txBody>
      </p:sp>
      <p:sp>
        <p:nvSpPr>
          <p:cNvPr id="11" name="Text 9"/>
          <p:cNvSpPr/>
          <p:nvPr/>
        </p:nvSpPr>
        <p:spPr>
          <a:xfrm>
            <a:off x="4800600" y="1261872"/>
            <a:ext cx="3931920" cy="2743200"/>
          </a:xfrm>
          <a:prstGeom prst="rect">
            <a:avLst/>
          </a:prstGeom>
          <a:noFill/>
          <a:ln/>
        </p:spPr>
        <p:txBody>
          <a:bodyPr wrap="square" rtlCol="0" anchor="ctr"/>
          <a:lstStyle/>
          <a:p>
            <a:pPr marL="0" indent="0">
              <a:spcAft>
                <a:spcPts val="600"/>
              </a:spcAft>
              <a:buNone/>
            </a:pPr>
            <a:r>
              <a:rPr lang="en-US" sz="1250" dirty="0">
                <a:solidFill>
                  <a:srgbClr val="334155"/>
                </a:solidFill>
                <a:latin typeface="Calibri" pitchFamily="34" charset="0"/>
                <a:ea typeface="Calibri" pitchFamily="34" charset="-122"/>
                <a:cs typeface="Calibri" pitchFamily="34" charset="-120"/>
              </a:rPr>
              <a:t>1. Limited integration of domain knowledge &amp; explainability in embryo AI</a:t>
            </a:r>
            <a:endParaRPr lang="en-US" sz="1250" dirty="0"/>
          </a:p>
          <a:p>
            <a:pPr marL="0" indent="0">
              <a:spcAft>
                <a:spcPts val="600"/>
              </a:spcAft>
              <a:buNone/>
            </a:pPr>
            <a:r>
              <a:rPr lang="en-US" sz="1250" dirty="0">
                <a:solidFill>
                  <a:srgbClr val="334155"/>
                </a:solidFill>
                <a:latin typeface="Calibri" pitchFamily="34" charset="0"/>
                <a:ea typeface="Calibri" pitchFamily="34" charset="-122"/>
                <a:cs typeface="Calibri" pitchFamily="34" charset="-120"/>
              </a:rPr>
              <a:t>2. Stress models tested only in lab settings — poor real-world generalizability</a:t>
            </a:r>
            <a:endParaRPr lang="en-US" sz="1250" dirty="0"/>
          </a:p>
          <a:p>
            <a:pPr marL="0" indent="0">
              <a:spcAft>
                <a:spcPts val="600"/>
              </a:spcAft>
              <a:buNone/>
            </a:pPr>
            <a:r>
              <a:rPr lang="en-US" sz="1250" dirty="0">
                <a:solidFill>
                  <a:srgbClr val="334155"/>
                </a:solidFill>
                <a:latin typeface="Calibri" pitchFamily="34" charset="0"/>
                <a:ea typeface="Calibri" pitchFamily="34" charset="-122"/>
                <a:cs typeface="Calibri" pitchFamily="34" charset="-120"/>
              </a:rPr>
              <a:t>3. Few low-cost, real-time embedded emotion recognition implementations</a:t>
            </a:r>
            <a:endParaRPr lang="en-US" sz="1250" dirty="0"/>
          </a:p>
          <a:p>
            <a:pPr marL="0" indent="0">
              <a:spcAft>
                <a:spcPts val="600"/>
              </a:spcAft>
              <a:buNone/>
            </a:pPr>
            <a:r>
              <a:rPr lang="en-US" sz="1250" dirty="0">
                <a:solidFill>
                  <a:srgbClr val="334155"/>
                </a:solidFill>
                <a:latin typeface="Calibri" pitchFamily="34" charset="0"/>
                <a:ea typeface="Calibri" pitchFamily="34" charset="-122"/>
                <a:cs typeface="Calibri" pitchFamily="34" charset="-120"/>
              </a:rPr>
              <a:t>4. Lack of continuous psychological dimensions (valence, arousal) in classification</a:t>
            </a:r>
            <a:endParaRPr lang="en-US" sz="1250" dirty="0"/>
          </a:p>
          <a:p>
            <a:pPr marL="0" indent="0">
              <a:spcAft>
                <a:spcPts val="600"/>
              </a:spcAft>
              <a:buNone/>
            </a:pPr>
            <a:r>
              <a:rPr lang="en-US" sz="1250" dirty="0">
                <a:solidFill>
                  <a:srgbClr val="334155"/>
                </a:solidFill>
                <a:latin typeface="Calibri" pitchFamily="34" charset="0"/>
                <a:ea typeface="Calibri" pitchFamily="34" charset="-122"/>
                <a:cs typeface="Calibri" pitchFamily="34" charset="-120"/>
              </a:rPr>
              <a:t>5. No unified framework combining interpretability, hardware &amp; software deployment</a:t>
            </a:r>
            <a:endParaRPr lang="en-US" sz="1250" dirty="0"/>
          </a:p>
        </p:txBody>
      </p:sp>
      <p:sp>
        <p:nvSpPr>
          <p:cNvPr id="12" name="Shape 10"/>
          <p:cNvSpPr/>
          <p:nvPr/>
        </p:nvSpPr>
        <p:spPr>
          <a:xfrm>
            <a:off x="274320" y="4297680"/>
            <a:ext cx="8595360" cy="685800"/>
          </a:xfrm>
          <a:prstGeom prst="rect">
            <a:avLst/>
          </a:prstGeom>
          <a:solidFill>
            <a:srgbClr val="FEF9E7"/>
          </a:solidFill>
          <a:ln w="12700">
            <a:solidFill>
              <a:srgbClr val="F39C12"/>
            </a:solidFill>
            <a:prstDash val="solid"/>
          </a:ln>
        </p:spPr>
        <p:txBody>
          <a:bodyPr/>
          <a:lstStyle/>
          <a:p>
            <a:endParaRPr lang="en-IN"/>
          </a:p>
        </p:txBody>
      </p:sp>
      <p:sp>
        <p:nvSpPr>
          <p:cNvPr id="13" name="Text 11"/>
          <p:cNvSpPr/>
          <p:nvPr/>
        </p:nvSpPr>
        <p:spPr>
          <a:xfrm>
            <a:off x="365760" y="4297680"/>
            <a:ext cx="8412480" cy="685800"/>
          </a:xfrm>
          <a:prstGeom prst="rect">
            <a:avLst/>
          </a:prstGeom>
          <a:noFill/>
          <a:ln/>
        </p:spPr>
        <p:txBody>
          <a:bodyPr wrap="square" rtlCol="0" anchor="ctr"/>
          <a:lstStyle/>
          <a:p>
            <a:pPr marL="0" indent="0" algn="ctr">
              <a:buNone/>
            </a:pPr>
            <a:r>
              <a:rPr lang="en-US" sz="1300" b="1" dirty="0">
                <a:solidFill>
                  <a:srgbClr val="7D6608"/>
                </a:solidFill>
                <a:latin typeface="Calibri" pitchFamily="34" charset="0"/>
                <a:ea typeface="Calibri" pitchFamily="34" charset="-122"/>
                <a:cs typeface="Calibri" pitchFamily="34" charset="-120"/>
              </a:rPr>
              <a:t>This thesis addresses all three gaps through interpretable AI + physiological signals + embedded hardware</a:t>
            </a:r>
            <a:endParaRPr lang="en-US" sz="1300" dirty="0"/>
          </a:p>
        </p:txBody>
      </p:sp>
      <p:pic>
        <p:nvPicPr>
          <p:cNvPr id="14" name="Picture 13">
            <a:extLst>
              <a:ext uri="{FF2B5EF4-FFF2-40B4-BE49-F238E27FC236}">
                <a16:creationId xmlns:a16="http://schemas.microsoft.com/office/drawing/2014/main" id="{FDD51ECD-950C-3B5F-ACF5-D71999014323}"/>
              </a:ext>
            </a:extLst>
          </p:cNvPr>
          <p:cNvPicPr>
            <a:picLocks noChangeAspect="1"/>
          </p:cNvPicPr>
          <p:nvPr/>
        </p:nvPicPr>
        <p:blipFill>
          <a:blip r:embed="rId3"/>
          <a:stretch>
            <a:fillRect/>
          </a:stretch>
        </p:blipFill>
        <p:spPr>
          <a:xfrm>
            <a:off x="8191940" y="0"/>
            <a:ext cx="898279" cy="733163"/>
          </a:xfrm>
          <a:prstGeom prst="rect">
            <a:avLst/>
          </a:prstGeom>
        </p:spPr>
      </p:pic>
      <p:pic>
        <p:nvPicPr>
          <p:cNvPr id="15" name="Picture 14">
            <a:extLst>
              <a:ext uri="{FF2B5EF4-FFF2-40B4-BE49-F238E27FC236}">
                <a16:creationId xmlns:a16="http://schemas.microsoft.com/office/drawing/2014/main" id="{6DF6BF88-0575-8EF6-1C63-C95985E3F6EA}"/>
              </a:ext>
            </a:extLst>
          </p:cNvPr>
          <p:cNvPicPr>
            <a:picLocks noChangeAspect="1"/>
          </p:cNvPicPr>
          <p:nvPr/>
        </p:nvPicPr>
        <p:blipFill>
          <a:blip r:embed="rId4"/>
          <a:stretch>
            <a:fillRect/>
          </a:stretch>
        </p:blipFill>
        <p:spPr>
          <a:xfrm>
            <a:off x="-77001" y="11097"/>
            <a:ext cx="1280160" cy="7204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172C2996-42A9-AE26-D01C-422D9484DE45}"/>
            </a:ext>
          </a:extLst>
        </p:cNvPr>
        <p:cNvGrpSpPr/>
        <p:nvPr/>
      </p:nvGrpSpPr>
      <p:grpSpPr>
        <a:xfrm>
          <a:off x="0" y="0"/>
          <a:ext cx="0" cy="0"/>
          <a:chOff x="0" y="0"/>
          <a:chExt cx="0" cy="0"/>
        </a:xfrm>
      </p:grpSpPr>
      <p:sp>
        <p:nvSpPr>
          <p:cNvPr id="16" name="Shape 0">
            <a:extLst>
              <a:ext uri="{FF2B5EF4-FFF2-40B4-BE49-F238E27FC236}">
                <a16:creationId xmlns:a16="http://schemas.microsoft.com/office/drawing/2014/main" id="{D46B4469-4A59-A605-FD17-A07D6B45826D}"/>
              </a:ext>
            </a:extLst>
          </p:cNvPr>
          <p:cNvSpPr/>
          <p:nvPr/>
        </p:nvSpPr>
        <p:spPr>
          <a:xfrm>
            <a:off x="0" y="0"/>
            <a:ext cx="9144000" cy="685800"/>
          </a:xfrm>
          <a:prstGeom prst="rect">
            <a:avLst/>
          </a:prstGeom>
          <a:solidFill>
            <a:schemeClr val="accent3">
              <a:lumMod val="20000"/>
              <a:lumOff val="80000"/>
            </a:schemeClr>
          </a:solidFill>
          <a:ln w="12700">
            <a:solidFill>
              <a:schemeClr val="bg1"/>
            </a:solidFill>
            <a:prstDash val="solid"/>
          </a:ln>
        </p:spPr>
        <p:txBody>
          <a:bodyPr/>
          <a:lstStyle/>
          <a:p>
            <a:endParaRPr lang="en-IN"/>
          </a:p>
        </p:txBody>
      </p:sp>
      <p:sp>
        <p:nvSpPr>
          <p:cNvPr id="17" name="Text 1">
            <a:extLst>
              <a:ext uri="{FF2B5EF4-FFF2-40B4-BE49-F238E27FC236}">
                <a16:creationId xmlns:a16="http://schemas.microsoft.com/office/drawing/2014/main" id="{3DF46151-1468-9C2C-2A66-F1D832D6FE91}"/>
              </a:ext>
            </a:extLst>
          </p:cNvPr>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Thesis Overview – Integrated Frameworks</a:t>
            </a:r>
            <a:endParaRPr lang="en-US" sz="2200" dirty="0"/>
          </a:p>
        </p:txBody>
      </p:sp>
      <p:sp>
        <p:nvSpPr>
          <p:cNvPr id="20" name="Text 4">
            <a:extLst>
              <a:ext uri="{FF2B5EF4-FFF2-40B4-BE49-F238E27FC236}">
                <a16:creationId xmlns:a16="http://schemas.microsoft.com/office/drawing/2014/main" id="{7B30683D-9036-8074-5130-FBAD2C2023C6}"/>
              </a:ext>
            </a:extLst>
          </p:cNvPr>
          <p:cNvSpPr/>
          <p:nvPr/>
        </p:nvSpPr>
        <p:spPr>
          <a:xfrm>
            <a:off x="1280160" y="914400"/>
            <a:ext cx="822960" cy="822960"/>
          </a:xfrm>
          <a:prstGeom prst="rect">
            <a:avLst/>
          </a:prstGeom>
          <a:noFill/>
          <a:ln/>
        </p:spPr>
        <p:txBody>
          <a:bodyPr wrap="square" rtlCol="0" anchor="ctr"/>
          <a:lstStyle/>
          <a:p>
            <a:pPr marL="0" indent="0" algn="ctr">
              <a:buNone/>
            </a:pPr>
            <a:endParaRPr lang="en-US" sz="1600" dirty="0"/>
          </a:p>
        </p:txBody>
      </p:sp>
      <p:sp>
        <p:nvSpPr>
          <p:cNvPr id="21" name="Text 5">
            <a:extLst>
              <a:ext uri="{FF2B5EF4-FFF2-40B4-BE49-F238E27FC236}">
                <a16:creationId xmlns:a16="http://schemas.microsoft.com/office/drawing/2014/main" id="{82EDD8B2-54D6-998A-C83A-5D9ECD0AF5E9}"/>
              </a:ext>
            </a:extLst>
          </p:cNvPr>
          <p:cNvSpPr/>
          <p:nvPr/>
        </p:nvSpPr>
        <p:spPr>
          <a:xfrm>
            <a:off x="365760" y="1874520"/>
            <a:ext cx="2651760" cy="685800"/>
          </a:xfrm>
          <a:prstGeom prst="rect">
            <a:avLst/>
          </a:prstGeom>
          <a:noFill/>
          <a:ln/>
        </p:spPr>
        <p:txBody>
          <a:bodyPr wrap="square" rtlCol="0" anchor="ctr"/>
          <a:lstStyle/>
          <a:p>
            <a:pPr marL="0" indent="0" algn="ctr">
              <a:buNone/>
            </a:pPr>
            <a:endParaRPr lang="en-US" sz="1450" dirty="0"/>
          </a:p>
        </p:txBody>
      </p:sp>
      <p:sp>
        <p:nvSpPr>
          <p:cNvPr id="23" name="Text 7">
            <a:extLst>
              <a:ext uri="{FF2B5EF4-FFF2-40B4-BE49-F238E27FC236}">
                <a16:creationId xmlns:a16="http://schemas.microsoft.com/office/drawing/2014/main" id="{41AE179F-ACF2-0125-886C-BB081D7420DD}"/>
              </a:ext>
            </a:extLst>
          </p:cNvPr>
          <p:cNvSpPr/>
          <p:nvPr/>
        </p:nvSpPr>
        <p:spPr>
          <a:xfrm>
            <a:off x="365760" y="2697480"/>
            <a:ext cx="2651760" cy="1280160"/>
          </a:xfrm>
          <a:prstGeom prst="rect">
            <a:avLst/>
          </a:prstGeom>
          <a:noFill/>
          <a:ln/>
        </p:spPr>
        <p:txBody>
          <a:bodyPr wrap="square" rtlCol="0" anchor="ctr"/>
          <a:lstStyle/>
          <a:p>
            <a:pPr marL="0" indent="0" algn="ctr">
              <a:buNone/>
            </a:pPr>
            <a:endParaRPr lang="en-US" sz="1200" dirty="0"/>
          </a:p>
        </p:txBody>
      </p:sp>
      <p:sp>
        <p:nvSpPr>
          <p:cNvPr id="25" name="Text 9">
            <a:extLst>
              <a:ext uri="{FF2B5EF4-FFF2-40B4-BE49-F238E27FC236}">
                <a16:creationId xmlns:a16="http://schemas.microsoft.com/office/drawing/2014/main" id="{42C41216-9FBE-9EEB-3DD5-F4FF80ED789C}"/>
              </a:ext>
            </a:extLst>
          </p:cNvPr>
          <p:cNvSpPr/>
          <p:nvPr/>
        </p:nvSpPr>
        <p:spPr>
          <a:xfrm>
            <a:off x="411480" y="4114800"/>
            <a:ext cx="2560320" cy="457200"/>
          </a:xfrm>
          <a:prstGeom prst="rect">
            <a:avLst/>
          </a:prstGeom>
          <a:noFill/>
          <a:ln/>
        </p:spPr>
        <p:txBody>
          <a:bodyPr wrap="square" rtlCol="0" anchor="ctr"/>
          <a:lstStyle/>
          <a:p>
            <a:pPr marL="0" indent="0" algn="ctr">
              <a:buNone/>
            </a:pPr>
            <a:endParaRPr lang="en-US" sz="1250" dirty="0"/>
          </a:p>
        </p:txBody>
      </p:sp>
      <p:sp>
        <p:nvSpPr>
          <p:cNvPr id="26" name="Shape 10">
            <a:extLst>
              <a:ext uri="{FF2B5EF4-FFF2-40B4-BE49-F238E27FC236}">
                <a16:creationId xmlns:a16="http://schemas.microsoft.com/office/drawing/2014/main" id="{9055A45D-D0E8-6D38-8243-7DA5D8E9539C}"/>
              </a:ext>
            </a:extLst>
          </p:cNvPr>
          <p:cNvSpPr/>
          <p:nvPr/>
        </p:nvSpPr>
        <p:spPr>
          <a:xfrm>
            <a:off x="1737360" y="754380"/>
            <a:ext cx="2834640" cy="3886200"/>
          </a:xfrm>
          <a:prstGeom prst="rect">
            <a:avLst/>
          </a:prstGeom>
          <a:solidFill>
            <a:srgbClr val="117A65"/>
          </a:solidFill>
          <a:ln w="127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27" name="Shape 11">
            <a:extLst>
              <a:ext uri="{FF2B5EF4-FFF2-40B4-BE49-F238E27FC236}">
                <a16:creationId xmlns:a16="http://schemas.microsoft.com/office/drawing/2014/main" id="{B7CB5697-7294-ADA3-9942-54E98334F119}"/>
              </a:ext>
            </a:extLst>
          </p:cNvPr>
          <p:cNvSpPr/>
          <p:nvPr/>
        </p:nvSpPr>
        <p:spPr>
          <a:xfrm>
            <a:off x="2743200" y="845820"/>
            <a:ext cx="822960" cy="822960"/>
          </a:xfrm>
          <a:prstGeom prst="ellipse">
            <a:avLst/>
          </a:prstGeom>
          <a:solidFill>
            <a:srgbClr val="2E86AB"/>
          </a:solidFill>
          <a:ln w="12700">
            <a:solidFill>
              <a:srgbClr val="FFFFFF"/>
            </a:solidFill>
            <a:prstDash val="solid"/>
          </a:ln>
        </p:spPr>
        <p:txBody>
          <a:bodyPr/>
          <a:lstStyle/>
          <a:p>
            <a:endParaRPr lang="en-IN"/>
          </a:p>
        </p:txBody>
      </p:sp>
      <p:sp>
        <p:nvSpPr>
          <p:cNvPr id="28" name="Text 12">
            <a:extLst>
              <a:ext uri="{FF2B5EF4-FFF2-40B4-BE49-F238E27FC236}">
                <a16:creationId xmlns:a16="http://schemas.microsoft.com/office/drawing/2014/main" id="{22D87EF1-DA51-F77E-4D9C-7DB83DA8B90C}"/>
              </a:ext>
            </a:extLst>
          </p:cNvPr>
          <p:cNvSpPr/>
          <p:nvPr/>
        </p:nvSpPr>
        <p:spPr>
          <a:xfrm>
            <a:off x="2743200" y="845820"/>
            <a:ext cx="822960" cy="8229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29" name="Text 13">
            <a:extLst>
              <a:ext uri="{FF2B5EF4-FFF2-40B4-BE49-F238E27FC236}">
                <a16:creationId xmlns:a16="http://schemas.microsoft.com/office/drawing/2014/main" id="{74814A58-9983-0A5D-C9AF-C040B4A1D65C}"/>
              </a:ext>
            </a:extLst>
          </p:cNvPr>
          <p:cNvSpPr/>
          <p:nvPr/>
        </p:nvSpPr>
        <p:spPr>
          <a:xfrm>
            <a:off x="1828800" y="1805940"/>
            <a:ext cx="2651760" cy="68580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MindWatch: Stress</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Detection</a:t>
            </a:r>
            <a:endParaRPr lang="en-US" sz="1450" dirty="0"/>
          </a:p>
        </p:txBody>
      </p:sp>
      <p:sp>
        <p:nvSpPr>
          <p:cNvPr id="30" name="Shape 14">
            <a:extLst>
              <a:ext uri="{FF2B5EF4-FFF2-40B4-BE49-F238E27FC236}">
                <a16:creationId xmlns:a16="http://schemas.microsoft.com/office/drawing/2014/main" id="{C4ED8FF6-4585-5FB4-170F-1E2B20158BAD}"/>
              </a:ext>
            </a:extLst>
          </p:cNvPr>
          <p:cNvSpPr/>
          <p:nvPr/>
        </p:nvSpPr>
        <p:spPr>
          <a:xfrm>
            <a:off x="1874520" y="2537460"/>
            <a:ext cx="2560320" cy="36576"/>
          </a:xfrm>
          <a:prstGeom prst="rect">
            <a:avLst/>
          </a:prstGeom>
          <a:solidFill>
            <a:srgbClr val="FFFFFF"/>
          </a:solidFill>
          <a:ln w="12700">
            <a:solidFill>
              <a:srgbClr val="FFFFFF"/>
            </a:solidFill>
            <a:prstDash val="solid"/>
          </a:ln>
        </p:spPr>
        <p:txBody>
          <a:bodyPr/>
          <a:lstStyle/>
          <a:p>
            <a:endParaRPr lang="en-IN"/>
          </a:p>
        </p:txBody>
      </p:sp>
      <p:sp>
        <p:nvSpPr>
          <p:cNvPr id="31" name="Text 15">
            <a:extLst>
              <a:ext uri="{FF2B5EF4-FFF2-40B4-BE49-F238E27FC236}">
                <a16:creationId xmlns:a16="http://schemas.microsoft.com/office/drawing/2014/main" id="{DC7D6E78-6259-0658-B1A7-2E06626306D2}"/>
              </a:ext>
            </a:extLst>
          </p:cNvPr>
          <p:cNvSpPr/>
          <p:nvPr/>
        </p:nvSpPr>
        <p:spPr>
          <a:xfrm>
            <a:off x="1828800" y="2628900"/>
            <a:ext cx="2651760" cy="1280160"/>
          </a:xfrm>
          <a:prstGeom prst="rect">
            <a:avLst/>
          </a:prstGeom>
          <a:noFill/>
          <a:ln/>
        </p:spPr>
        <p:txBody>
          <a:bodyPr wrap="square" rtlCol="0" anchor="ctr"/>
          <a:lstStyle/>
          <a:p>
            <a:pPr marL="0" indent="0" algn="ctr">
              <a:buNone/>
            </a:pPr>
            <a:r>
              <a:rPr lang="en-US" sz="1200" dirty="0">
                <a:solidFill>
                  <a:srgbClr val="C8E6FA"/>
                </a:solidFill>
                <a:latin typeface="Calibri" pitchFamily="34" charset="0"/>
                <a:ea typeface="Calibri" pitchFamily="34" charset="-122"/>
                <a:cs typeface="Calibri" pitchFamily="34" charset="-120"/>
              </a:rPr>
              <a:t>Multimodal Wearable Signals</a:t>
            </a:r>
            <a:endParaRPr lang="en-US" sz="1200" dirty="0"/>
          </a:p>
          <a:p>
            <a:pPr marL="0" indent="0" algn="ctr">
              <a:buNone/>
            </a:pPr>
            <a:r>
              <a:rPr lang="en-US" sz="1200" dirty="0">
                <a:solidFill>
                  <a:srgbClr val="C8E6FA"/>
                </a:solidFill>
                <a:latin typeface="Calibri" pitchFamily="34" charset="0"/>
                <a:ea typeface="Calibri" pitchFamily="34" charset="-122"/>
                <a:cs typeface="Calibri" pitchFamily="34" charset="-120"/>
              </a:rPr>
              <a:t>(EDA, BVP, HR, TEMP)</a:t>
            </a:r>
            <a:endParaRPr lang="en-US" sz="1200" dirty="0"/>
          </a:p>
          <a:p>
            <a:pPr marL="0" indent="0" algn="ctr">
              <a:buNone/>
            </a:pPr>
            <a:r>
              <a:rPr lang="en-US" sz="1200" dirty="0">
                <a:solidFill>
                  <a:srgbClr val="C8E6FA"/>
                </a:solidFill>
                <a:latin typeface="Calibri" pitchFamily="34" charset="0"/>
                <a:ea typeface="Calibri" pitchFamily="34" charset="-122"/>
                <a:cs typeface="Calibri" pitchFamily="34" charset="-120"/>
              </a:rPr>
              <a:t>XGBoost + SHAP</a:t>
            </a:r>
            <a:endParaRPr lang="en-US" sz="1200" dirty="0"/>
          </a:p>
        </p:txBody>
      </p:sp>
      <p:sp>
        <p:nvSpPr>
          <p:cNvPr id="32" name="Shape 16">
            <a:extLst>
              <a:ext uri="{FF2B5EF4-FFF2-40B4-BE49-F238E27FC236}">
                <a16:creationId xmlns:a16="http://schemas.microsoft.com/office/drawing/2014/main" id="{4C2DF3D7-534E-017D-9193-61FDD3AC919F}"/>
              </a:ext>
            </a:extLst>
          </p:cNvPr>
          <p:cNvSpPr/>
          <p:nvPr/>
        </p:nvSpPr>
        <p:spPr>
          <a:xfrm>
            <a:off x="1874520" y="4046220"/>
            <a:ext cx="2560320" cy="457200"/>
          </a:xfrm>
          <a:prstGeom prst="rect">
            <a:avLst/>
          </a:prstGeom>
          <a:solidFill>
            <a:srgbClr val="2E86AB"/>
          </a:solidFill>
          <a:ln w="12700">
            <a:solidFill>
              <a:srgbClr val="2E86AB"/>
            </a:solidFill>
            <a:prstDash val="solid"/>
          </a:ln>
        </p:spPr>
        <p:txBody>
          <a:bodyPr/>
          <a:lstStyle/>
          <a:p>
            <a:endParaRPr lang="en-IN"/>
          </a:p>
        </p:txBody>
      </p:sp>
      <p:sp>
        <p:nvSpPr>
          <p:cNvPr id="33" name="Text 17">
            <a:extLst>
              <a:ext uri="{FF2B5EF4-FFF2-40B4-BE49-F238E27FC236}">
                <a16:creationId xmlns:a16="http://schemas.microsoft.com/office/drawing/2014/main" id="{0186650D-BCA8-CF8F-32B2-39A0F97E55D4}"/>
              </a:ext>
            </a:extLst>
          </p:cNvPr>
          <p:cNvSpPr/>
          <p:nvPr/>
        </p:nvSpPr>
        <p:spPr>
          <a:xfrm>
            <a:off x="1874520" y="4046220"/>
            <a:ext cx="256032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97% Acc | ROC-AUC 0.99</a:t>
            </a:r>
            <a:endParaRPr lang="en-US" sz="1250" dirty="0"/>
          </a:p>
        </p:txBody>
      </p:sp>
      <p:sp>
        <p:nvSpPr>
          <p:cNvPr id="34" name="Shape 18">
            <a:extLst>
              <a:ext uri="{FF2B5EF4-FFF2-40B4-BE49-F238E27FC236}">
                <a16:creationId xmlns:a16="http://schemas.microsoft.com/office/drawing/2014/main" id="{FFD37EFC-4AD5-DBBC-C0DC-B78E66AE38CE}"/>
              </a:ext>
            </a:extLst>
          </p:cNvPr>
          <p:cNvSpPr/>
          <p:nvPr/>
        </p:nvSpPr>
        <p:spPr>
          <a:xfrm>
            <a:off x="4663440" y="754380"/>
            <a:ext cx="2834640" cy="3886200"/>
          </a:xfrm>
          <a:prstGeom prst="rect">
            <a:avLst/>
          </a:prstGeom>
          <a:solidFill>
            <a:srgbClr val="6E2F1A"/>
          </a:solidFill>
          <a:ln w="12700">
            <a:solidFill>
              <a:srgbClr val="FFFFFF"/>
            </a:solidFill>
            <a:prstDash val="solid"/>
          </a:ln>
          <a:effectLst>
            <a:outerShdw blurRad="101600" dist="38100" dir="8100000" algn="bl" rotWithShape="0">
              <a:srgbClr val="000000">
                <a:alpha val="12000"/>
              </a:srgbClr>
            </a:outerShdw>
          </a:effectLst>
        </p:spPr>
        <p:txBody>
          <a:bodyPr/>
          <a:lstStyle/>
          <a:p>
            <a:endParaRPr lang="en-IN"/>
          </a:p>
        </p:txBody>
      </p:sp>
      <p:sp>
        <p:nvSpPr>
          <p:cNvPr id="35" name="Shape 19">
            <a:extLst>
              <a:ext uri="{FF2B5EF4-FFF2-40B4-BE49-F238E27FC236}">
                <a16:creationId xmlns:a16="http://schemas.microsoft.com/office/drawing/2014/main" id="{3A4CE38F-A07E-7872-3645-B03AA523BC82}"/>
              </a:ext>
            </a:extLst>
          </p:cNvPr>
          <p:cNvSpPr/>
          <p:nvPr/>
        </p:nvSpPr>
        <p:spPr>
          <a:xfrm>
            <a:off x="5669280" y="845820"/>
            <a:ext cx="822960" cy="822960"/>
          </a:xfrm>
          <a:prstGeom prst="ellipse">
            <a:avLst/>
          </a:prstGeom>
          <a:solidFill>
            <a:srgbClr val="2E86AB"/>
          </a:solidFill>
          <a:ln w="12700">
            <a:solidFill>
              <a:srgbClr val="FFFFFF"/>
            </a:solidFill>
            <a:prstDash val="solid"/>
          </a:ln>
        </p:spPr>
        <p:txBody>
          <a:bodyPr/>
          <a:lstStyle/>
          <a:p>
            <a:endParaRPr lang="en-IN"/>
          </a:p>
        </p:txBody>
      </p:sp>
      <p:sp>
        <p:nvSpPr>
          <p:cNvPr id="36" name="Text 20">
            <a:extLst>
              <a:ext uri="{FF2B5EF4-FFF2-40B4-BE49-F238E27FC236}">
                <a16:creationId xmlns:a16="http://schemas.microsoft.com/office/drawing/2014/main" id="{F72A8FE8-3ED5-D2CB-C17B-2070EF9EF0D0}"/>
              </a:ext>
            </a:extLst>
          </p:cNvPr>
          <p:cNvSpPr/>
          <p:nvPr/>
        </p:nvSpPr>
        <p:spPr>
          <a:xfrm>
            <a:off x="5669280" y="845820"/>
            <a:ext cx="822960" cy="8229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37" name="Text 21">
            <a:extLst>
              <a:ext uri="{FF2B5EF4-FFF2-40B4-BE49-F238E27FC236}">
                <a16:creationId xmlns:a16="http://schemas.microsoft.com/office/drawing/2014/main" id="{9B0D2BBD-D57C-7AEF-714E-9956579A9FDB}"/>
              </a:ext>
            </a:extLst>
          </p:cNvPr>
          <p:cNvSpPr/>
          <p:nvPr/>
        </p:nvSpPr>
        <p:spPr>
          <a:xfrm>
            <a:off x="4754880" y="1805940"/>
            <a:ext cx="2651760" cy="685800"/>
          </a:xfrm>
          <a:prstGeom prst="rect">
            <a:avLst/>
          </a:prstGeom>
          <a:noFill/>
          <a:ln/>
        </p:spPr>
        <p:txBody>
          <a:bodyPr wrap="square" rtlCol="0" anchor="ctr"/>
          <a:lstStyle/>
          <a:p>
            <a:pPr marL="0" indent="0" algn="ctr">
              <a:buNone/>
            </a:pPr>
            <a:r>
              <a:rPr lang="en-US" sz="1450" b="1" dirty="0">
                <a:solidFill>
                  <a:srgbClr val="FFFFFF"/>
                </a:solidFill>
                <a:latin typeface="Calibri" pitchFamily="34" charset="0"/>
                <a:ea typeface="Calibri" pitchFamily="34" charset="-122"/>
                <a:cs typeface="Calibri" pitchFamily="34" charset="-120"/>
              </a:rPr>
              <a:t>Real-Time Emotion</a:t>
            </a:r>
            <a:endParaRPr lang="en-US" sz="1450" dirty="0"/>
          </a:p>
          <a:p>
            <a:pPr marL="0" indent="0" algn="ctr">
              <a:buNone/>
            </a:pPr>
            <a:r>
              <a:rPr lang="en-US" sz="1450" b="1" dirty="0">
                <a:solidFill>
                  <a:srgbClr val="FFFFFF"/>
                </a:solidFill>
                <a:latin typeface="Calibri" pitchFamily="34" charset="0"/>
                <a:ea typeface="Calibri" pitchFamily="34" charset="-122"/>
                <a:cs typeface="Calibri" pitchFamily="34" charset="-120"/>
              </a:rPr>
              <a:t>Recognition</a:t>
            </a:r>
            <a:endParaRPr lang="en-US" sz="1450" dirty="0"/>
          </a:p>
        </p:txBody>
      </p:sp>
      <p:sp>
        <p:nvSpPr>
          <p:cNvPr id="38" name="Shape 22">
            <a:extLst>
              <a:ext uri="{FF2B5EF4-FFF2-40B4-BE49-F238E27FC236}">
                <a16:creationId xmlns:a16="http://schemas.microsoft.com/office/drawing/2014/main" id="{D888E4A6-2EFF-0083-3C83-B920556BE17A}"/>
              </a:ext>
            </a:extLst>
          </p:cNvPr>
          <p:cNvSpPr/>
          <p:nvPr/>
        </p:nvSpPr>
        <p:spPr>
          <a:xfrm>
            <a:off x="4800600" y="2537460"/>
            <a:ext cx="2560320" cy="36576"/>
          </a:xfrm>
          <a:prstGeom prst="rect">
            <a:avLst/>
          </a:prstGeom>
          <a:solidFill>
            <a:srgbClr val="FFFFFF"/>
          </a:solidFill>
          <a:ln w="12700">
            <a:solidFill>
              <a:srgbClr val="FFFFFF"/>
            </a:solidFill>
            <a:prstDash val="solid"/>
          </a:ln>
        </p:spPr>
        <p:txBody>
          <a:bodyPr/>
          <a:lstStyle/>
          <a:p>
            <a:endParaRPr lang="en-IN"/>
          </a:p>
        </p:txBody>
      </p:sp>
      <p:sp>
        <p:nvSpPr>
          <p:cNvPr id="39" name="Text 23">
            <a:extLst>
              <a:ext uri="{FF2B5EF4-FFF2-40B4-BE49-F238E27FC236}">
                <a16:creationId xmlns:a16="http://schemas.microsoft.com/office/drawing/2014/main" id="{1147B547-2D56-DADE-D3CD-514026A1DA6C}"/>
              </a:ext>
            </a:extLst>
          </p:cNvPr>
          <p:cNvSpPr/>
          <p:nvPr/>
        </p:nvSpPr>
        <p:spPr>
          <a:xfrm>
            <a:off x="4754880" y="2628900"/>
            <a:ext cx="2651760" cy="1280160"/>
          </a:xfrm>
          <a:prstGeom prst="rect">
            <a:avLst/>
          </a:prstGeom>
          <a:noFill/>
          <a:ln/>
        </p:spPr>
        <p:txBody>
          <a:bodyPr wrap="square" rtlCol="0" anchor="ctr"/>
          <a:lstStyle/>
          <a:p>
            <a:pPr marL="0" indent="0" algn="ctr">
              <a:buNone/>
            </a:pPr>
            <a:r>
              <a:rPr lang="en-US" sz="1200" dirty="0">
                <a:solidFill>
                  <a:srgbClr val="C8E6FA"/>
                </a:solidFill>
                <a:latin typeface="Calibri" pitchFamily="34" charset="0"/>
                <a:ea typeface="Calibri" pitchFamily="34" charset="-122"/>
                <a:cs typeface="Calibri" pitchFamily="34" charset="-120"/>
              </a:rPr>
              <a:t>Raspberry Pi + Multi-Sensor</a:t>
            </a:r>
            <a:endParaRPr lang="en-US" sz="1200" dirty="0"/>
          </a:p>
          <a:p>
            <a:pPr marL="0" indent="0" algn="ctr">
              <a:buNone/>
            </a:pPr>
            <a:r>
              <a:rPr lang="en-US" sz="1200" dirty="0">
                <a:solidFill>
                  <a:srgbClr val="C8E6FA"/>
                </a:solidFill>
                <a:latin typeface="Calibri" pitchFamily="34" charset="0"/>
                <a:ea typeface="Calibri" pitchFamily="34" charset="-122"/>
                <a:cs typeface="Calibri" pitchFamily="34" charset="-120"/>
              </a:rPr>
              <a:t>Random Forest Classifier</a:t>
            </a:r>
            <a:endParaRPr lang="en-US" sz="1200" dirty="0"/>
          </a:p>
          <a:p>
            <a:pPr marL="0" indent="0" algn="ctr">
              <a:buNone/>
            </a:pPr>
            <a:r>
              <a:rPr lang="en-US" sz="1200" dirty="0">
                <a:solidFill>
                  <a:srgbClr val="C8E6FA"/>
                </a:solidFill>
                <a:latin typeface="Calibri" pitchFamily="34" charset="0"/>
                <a:ea typeface="Calibri" pitchFamily="34" charset="-122"/>
                <a:cs typeface="Calibri" pitchFamily="34" charset="-120"/>
              </a:rPr>
              <a:t>+ Recommendation System</a:t>
            </a:r>
            <a:endParaRPr lang="en-US" sz="1200" dirty="0"/>
          </a:p>
        </p:txBody>
      </p:sp>
      <p:sp>
        <p:nvSpPr>
          <p:cNvPr id="40" name="Shape 24">
            <a:extLst>
              <a:ext uri="{FF2B5EF4-FFF2-40B4-BE49-F238E27FC236}">
                <a16:creationId xmlns:a16="http://schemas.microsoft.com/office/drawing/2014/main" id="{5F5D893F-D24F-87DB-53C3-FE930458EA53}"/>
              </a:ext>
            </a:extLst>
          </p:cNvPr>
          <p:cNvSpPr/>
          <p:nvPr/>
        </p:nvSpPr>
        <p:spPr>
          <a:xfrm>
            <a:off x="4800600" y="4046220"/>
            <a:ext cx="2560320" cy="457200"/>
          </a:xfrm>
          <a:prstGeom prst="rect">
            <a:avLst/>
          </a:prstGeom>
          <a:solidFill>
            <a:srgbClr val="2E86AB"/>
          </a:solidFill>
          <a:ln w="12700">
            <a:solidFill>
              <a:srgbClr val="2E86AB"/>
            </a:solidFill>
            <a:prstDash val="solid"/>
          </a:ln>
        </p:spPr>
        <p:txBody>
          <a:bodyPr/>
          <a:lstStyle/>
          <a:p>
            <a:endParaRPr lang="en-IN"/>
          </a:p>
        </p:txBody>
      </p:sp>
      <p:sp>
        <p:nvSpPr>
          <p:cNvPr id="41" name="Text 25">
            <a:extLst>
              <a:ext uri="{FF2B5EF4-FFF2-40B4-BE49-F238E27FC236}">
                <a16:creationId xmlns:a16="http://schemas.microsoft.com/office/drawing/2014/main" id="{61A8D259-BB44-8BC2-730E-0F6B9C787138}"/>
              </a:ext>
            </a:extLst>
          </p:cNvPr>
          <p:cNvSpPr/>
          <p:nvPr/>
        </p:nvSpPr>
        <p:spPr>
          <a:xfrm>
            <a:off x="4800600" y="4046220"/>
            <a:ext cx="2560320" cy="457200"/>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97% Acc | ROC-AUC 0.965</a:t>
            </a:r>
            <a:endParaRPr lang="en-US" sz="1250" dirty="0"/>
          </a:p>
        </p:txBody>
      </p:sp>
      <p:sp>
        <p:nvSpPr>
          <p:cNvPr id="42" name="Text 26">
            <a:extLst>
              <a:ext uri="{FF2B5EF4-FFF2-40B4-BE49-F238E27FC236}">
                <a16:creationId xmlns:a16="http://schemas.microsoft.com/office/drawing/2014/main" id="{37E5AECE-024D-D8E5-D433-02664050D309}"/>
              </a:ext>
            </a:extLst>
          </p:cNvPr>
          <p:cNvSpPr/>
          <p:nvPr/>
        </p:nvSpPr>
        <p:spPr>
          <a:xfrm>
            <a:off x="2926080" y="2651760"/>
            <a:ext cx="365760" cy="365760"/>
          </a:xfrm>
          <a:prstGeom prst="rect">
            <a:avLst/>
          </a:prstGeom>
          <a:noFill/>
          <a:ln/>
        </p:spPr>
        <p:txBody>
          <a:bodyPr wrap="square" rtlCol="0" anchor="ctr"/>
          <a:lstStyle/>
          <a:p>
            <a:pPr marL="0" indent="0" algn="ctr">
              <a:buNone/>
            </a:pPr>
            <a:endParaRPr lang="en-US" sz="2000" dirty="0"/>
          </a:p>
        </p:txBody>
      </p:sp>
      <p:sp>
        <p:nvSpPr>
          <p:cNvPr id="43" name="Text 27">
            <a:extLst>
              <a:ext uri="{FF2B5EF4-FFF2-40B4-BE49-F238E27FC236}">
                <a16:creationId xmlns:a16="http://schemas.microsoft.com/office/drawing/2014/main" id="{1A3063F2-84E3-C150-686A-FE335E3FF898}"/>
              </a:ext>
            </a:extLst>
          </p:cNvPr>
          <p:cNvSpPr/>
          <p:nvPr/>
        </p:nvSpPr>
        <p:spPr>
          <a:xfrm>
            <a:off x="4389120" y="2583180"/>
            <a:ext cx="365760" cy="365760"/>
          </a:xfrm>
          <a:prstGeom prst="rect">
            <a:avLst/>
          </a:prstGeom>
          <a:noFill/>
          <a:ln/>
        </p:spPr>
        <p:txBody>
          <a:bodyPr wrap="square" rtlCol="0" anchor="ctr"/>
          <a:lstStyle/>
          <a:p>
            <a:pPr marL="0" indent="0" algn="ctr">
              <a:buNone/>
            </a:pPr>
            <a:r>
              <a:rPr lang="en-US" sz="2000" dirty="0">
                <a:solidFill>
                  <a:srgbClr val="2E86AB"/>
                </a:solidFill>
              </a:rPr>
              <a:t>→</a:t>
            </a:r>
            <a:endParaRPr lang="en-US" sz="2000" dirty="0"/>
          </a:p>
        </p:txBody>
      </p:sp>
      <p:pic>
        <p:nvPicPr>
          <p:cNvPr id="44" name="Picture 43">
            <a:extLst>
              <a:ext uri="{FF2B5EF4-FFF2-40B4-BE49-F238E27FC236}">
                <a16:creationId xmlns:a16="http://schemas.microsoft.com/office/drawing/2014/main" id="{29464167-C8BA-8A26-70E1-577A6B058F88}"/>
              </a:ext>
            </a:extLst>
          </p:cNvPr>
          <p:cNvPicPr>
            <a:picLocks noChangeAspect="1"/>
          </p:cNvPicPr>
          <p:nvPr/>
        </p:nvPicPr>
        <p:blipFill>
          <a:blip r:embed="rId3"/>
          <a:stretch>
            <a:fillRect/>
          </a:stretch>
        </p:blipFill>
        <p:spPr>
          <a:xfrm>
            <a:off x="8191940" y="0"/>
            <a:ext cx="898279" cy="733163"/>
          </a:xfrm>
          <a:prstGeom prst="rect">
            <a:avLst/>
          </a:prstGeom>
        </p:spPr>
      </p:pic>
      <p:pic>
        <p:nvPicPr>
          <p:cNvPr id="45" name="Picture 44">
            <a:extLst>
              <a:ext uri="{FF2B5EF4-FFF2-40B4-BE49-F238E27FC236}">
                <a16:creationId xmlns:a16="http://schemas.microsoft.com/office/drawing/2014/main" id="{F5D97245-DC61-0A2F-6615-14AA0281FAEB}"/>
              </a:ext>
            </a:extLst>
          </p:cNvPr>
          <p:cNvPicPr>
            <a:picLocks noChangeAspect="1"/>
          </p:cNvPicPr>
          <p:nvPr/>
        </p:nvPicPr>
        <p:blipFill>
          <a:blip r:embed="rId4"/>
          <a:stretch>
            <a:fillRect/>
          </a:stretch>
        </p:blipFill>
        <p:spPr>
          <a:xfrm>
            <a:off x="-77001" y="11097"/>
            <a:ext cx="1280160" cy="720423"/>
          </a:xfrm>
          <a:prstGeom prst="rect">
            <a:avLst/>
          </a:prstGeom>
        </p:spPr>
      </p:pic>
    </p:spTree>
    <p:extLst>
      <p:ext uri="{BB962C8B-B14F-4D97-AF65-F5344CB8AC3E}">
        <p14:creationId xmlns:p14="http://schemas.microsoft.com/office/powerpoint/2010/main" val="39227343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accent6">
              <a:lumMod val="20000"/>
              <a:lumOff val="80000"/>
            </a:schemeClr>
          </a:solidFill>
          <a:ln w="12700">
            <a:solidFill>
              <a:srgbClr val="117A65"/>
            </a:solidFill>
            <a:prstDash val="solid"/>
          </a:ln>
        </p:spPr>
        <p:txBody>
          <a:bodyPr/>
          <a:lstStyle/>
          <a:p>
            <a:endParaRPr lang="en-IN"/>
          </a:p>
        </p:txBody>
      </p:sp>
      <p:sp>
        <p:nvSpPr>
          <p:cNvPr id="3" name="Text 1"/>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MindWatch: Wearable Stress Detection</a:t>
            </a:r>
            <a:endParaRPr lang="en-US" sz="2200" dirty="0"/>
          </a:p>
        </p:txBody>
      </p:sp>
      <p:sp>
        <p:nvSpPr>
          <p:cNvPr id="4" name="Shape 2"/>
          <p:cNvSpPr/>
          <p:nvPr/>
        </p:nvSpPr>
        <p:spPr>
          <a:xfrm>
            <a:off x="274320" y="822960"/>
            <a:ext cx="4023360" cy="39776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5" name="Shape 3"/>
          <p:cNvSpPr/>
          <p:nvPr/>
        </p:nvSpPr>
        <p:spPr>
          <a:xfrm>
            <a:off x="274320" y="822960"/>
            <a:ext cx="4023360" cy="384048"/>
          </a:xfrm>
          <a:prstGeom prst="rect">
            <a:avLst/>
          </a:prstGeom>
          <a:solidFill>
            <a:srgbClr val="117A65"/>
          </a:solidFill>
          <a:ln w="12700">
            <a:solidFill>
              <a:srgbClr val="117A65"/>
            </a:solidFill>
            <a:prstDash val="solid"/>
          </a:ln>
        </p:spPr>
        <p:txBody>
          <a:bodyPr/>
          <a:lstStyle/>
          <a:p>
            <a:endParaRPr lang="en-IN"/>
          </a:p>
        </p:txBody>
      </p:sp>
      <p:sp>
        <p:nvSpPr>
          <p:cNvPr id="6" name="Text 4"/>
          <p:cNvSpPr/>
          <p:nvPr/>
        </p:nvSpPr>
        <p:spPr>
          <a:xfrm>
            <a:off x="274320" y="822960"/>
            <a:ext cx="402336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Dataset &amp; Signals (WESAD)</a:t>
            </a:r>
            <a:endParaRPr lang="en-US" sz="1400" dirty="0"/>
          </a:p>
        </p:txBody>
      </p:sp>
      <p:sp>
        <p:nvSpPr>
          <p:cNvPr id="7" name="Text 5"/>
          <p:cNvSpPr/>
          <p:nvPr/>
        </p:nvSpPr>
        <p:spPr>
          <a:xfrm>
            <a:off x="457200" y="1298448"/>
            <a:ext cx="3657600" cy="1828800"/>
          </a:xfrm>
          <a:prstGeom prst="rect">
            <a:avLst/>
          </a:prstGeom>
          <a:noFill/>
          <a:ln/>
        </p:spPr>
        <p:txBody>
          <a:bodyPr wrap="square" rtlCol="0" anchor="ctr"/>
          <a:lstStyle/>
          <a:p>
            <a:pPr marL="342900" indent="-342900">
              <a:spcAft>
                <a:spcPts val="400"/>
              </a:spcAft>
              <a:buSzPct val="100000"/>
              <a:buChar char="•"/>
            </a:pPr>
            <a:r>
              <a:rPr lang="en-US" sz="1250" dirty="0">
                <a:solidFill>
                  <a:srgbClr val="334155"/>
                </a:solidFill>
                <a:latin typeface="Calibri" pitchFamily="34" charset="0"/>
                <a:ea typeface="Calibri" pitchFamily="34" charset="-122"/>
                <a:cs typeface="Calibri" pitchFamily="34" charset="-120"/>
              </a:rPr>
              <a:t>EDA – Electrodermal Activity (skin conductance)</a:t>
            </a:r>
            <a:endParaRPr lang="en-US" sz="1250" dirty="0"/>
          </a:p>
          <a:p>
            <a:pPr marL="342900" indent="-342900">
              <a:spcAft>
                <a:spcPts val="400"/>
              </a:spcAft>
              <a:buSzPct val="100000"/>
              <a:buChar char="•"/>
            </a:pPr>
            <a:r>
              <a:rPr lang="en-US" sz="1250" dirty="0">
                <a:solidFill>
                  <a:srgbClr val="334155"/>
                </a:solidFill>
                <a:latin typeface="Calibri" pitchFamily="34" charset="0"/>
                <a:ea typeface="Calibri" pitchFamily="34" charset="-122"/>
                <a:cs typeface="Calibri" pitchFamily="34" charset="-120"/>
              </a:rPr>
              <a:t>BVP – Blood Volume Pulse</a:t>
            </a:r>
            <a:endParaRPr lang="en-US" sz="1250" dirty="0"/>
          </a:p>
          <a:p>
            <a:pPr marL="342900" indent="-342900">
              <a:spcAft>
                <a:spcPts val="400"/>
              </a:spcAft>
              <a:buSzPct val="100000"/>
              <a:buChar char="•"/>
            </a:pPr>
            <a:r>
              <a:rPr lang="en-US" sz="1250" dirty="0">
                <a:solidFill>
                  <a:srgbClr val="334155"/>
                </a:solidFill>
                <a:latin typeface="Calibri" pitchFamily="34" charset="0"/>
                <a:ea typeface="Calibri" pitchFamily="34" charset="-122"/>
                <a:cs typeface="Calibri" pitchFamily="34" charset="-120"/>
              </a:rPr>
              <a:t>HR – Heart Rate</a:t>
            </a:r>
            <a:endParaRPr lang="en-US" sz="1250" dirty="0"/>
          </a:p>
          <a:p>
            <a:pPr marL="342900" indent="-342900">
              <a:spcAft>
                <a:spcPts val="400"/>
              </a:spcAft>
              <a:buSzPct val="100000"/>
              <a:buChar char="•"/>
            </a:pPr>
            <a:r>
              <a:rPr lang="en-US" sz="1250" dirty="0">
                <a:solidFill>
                  <a:srgbClr val="334155"/>
                </a:solidFill>
                <a:latin typeface="Calibri" pitchFamily="34" charset="0"/>
                <a:ea typeface="Calibri" pitchFamily="34" charset="-122"/>
                <a:cs typeface="Calibri" pitchFamily="34" charset="-120"/>
              </a:rPr>
              <a:t>IBI – Inter-Beat Interval</a:t>
            </a:r>
            <a:endParaRPr lang="en-US" sz="1250" dirty="0"/>
          </a:p>
          <a:p>
            <a:pPr marL="342900" indent="-342900">
              <a:spcAft>
                <a:spcPts val="400"/>
              </a:spcAft>
              <a:buSzPct val="100000"/>
              <a:buChar char="•"/>
            </a:pPr>
            <a:r>
              <a:rPr lang="en-US" sz="1250" dirty="0">
                <a:solidFill>
                  <a:srgbClr val="334155"/>
                </a:solidFill>
                <a:latin typeface="Calibri" pitchFamily="34" charset="0"/>
                <a:ea typeface="Calibri" pitchFamily="34" charset="-122"/>
                <a:cs typeface="Calibri" pitchFamily="34" charset="-120"/>
              </a:rPr>
              <a:t>TEMP – Skin Temperature</a:t>
            </a:r>
            <a:endParaRPr lang="en-US" sz="1250" dirty="0"/>
          </a:p>
          <a:p>
            <a:pPr marL="342900" indent="-342900">
              <a:spcAft>
                <a:spcPts val="400"/>
              </a:spcAft>
              <a:buSzPct val="100000"/>
              <a:buChar char="•"/>
            </a:pPr>
            <a:r>
              <a:rPr lang="en-US" sz="1250" dirty="0">
                <a:solidFill>
                  <a:srgbClr val="334155"/>
                </a:solidFill>
                <a:latin typeface="Calibri" pitchFamily="34" charset="0"/>
                <a:ea typeface="Calibri" pitchFamily="34" charset="-122"/>
                <a:cs typeface="Calibri" pitchFamily="34" charset="-120"/>
              </a:rPr>
              <a:t>ACC – 3-Axis Accelerometer (X, Y, Z)</a:t>
            </a:r>
            <a:endParaRPr lang="en-US" sz="1250" dirty="0"/>
          </a:p>
        </p:txBody>
      </p:sp>
      <p:sp>
        <p:nvSpPr>
          <p:cNvPr id="8" name="Shape 6"/>
          <p:cNvSpPr/>
          <p:nvPr/>
        </p:nvSpPr>
        <p:spPr>
          <a:xfrm>
            <a:off x="411480" y="3246120"/>
            <a:ext cx="3749040" cy="27432"/>
          </a:xfrm>
          <a:prstGeom prst="rect">
            <a:avLst/>
          </a:prstGeom>
          <a:solidFill>
            <a:srgbClr val="AEC6CF"/>
          </a:solidFill>
          <a:ln w="12700">
            <a:solidFill>
              <a:srgbClr val="AEC6CF"/>
            </a:solidFill>
            <a:prstDash val="solid"/>
          </a:ln>
        </p:spPr>
        <p:txBody>
          <a:bodyPr/>
          <a:lstStyle/>
          <a:p>
            <a:endParaRPr lang="en-IN"/>
          </a:p>
        </p:txBody>
      </p:sp>
      <p:sp>
        <p:nvSpPr>
          <p:cNvPr id="9" name="Text 7"/>
          <p:cNvSpPr/>
          <p:nvPr/>
        </p:nvSpPr>
        <p:spPr>
          <a:xfrm>
            <a:off x="411480" y="3337560"/>
            <a:ext cx="3749040" cy="1325880"/>
          </a:xfrm>
          <a:prstGeom prst="rect">
            <a:avLst/>
          </a:prstGeom>
          <a:noFill/>
          <a:ln/>
        </p:spPr>
        <p:txBody>
          <a:bodyPr wrap="square" rtlCol="0" anchor="ctr"/>
          <a:lstStyle/>
          <a:p>
            <a:pPr marL="0" indent="0">
              <a:buNone/>
            </a:pPr>
            <a:r>
              <a:rPr lang="en-US" sz="1250" b="1" dirty="0">
                <a:solidFill>
                  <a:srgbClr val="334155"/>
                </a:solidFill>
                <a:latin typeface="Calibri" pitchFamily="34" charset="0"/>
                <a:ea typeface="Calibri" pitchFamily="34" charset="-122"/>
                <a:cs typeface="Calibri" pitchFamily="34" charset="-120"/>
              </a:rPr>
              <a:t>15 participants</a:t>
            </a:r>
            <a:r>
              <a:rPr lang="en-US" sz="1250" dirty="0">
                <a:solidFill>
                  <a:srgbClr val="334155"/>
                </a:solidFill>
                <a:latin typeface="Calibri" pitchFamily="34" charset="0"/>
                <a:ea typeface="Calibri" pitchFamily="34" charset="-122"/>
                <a:cs typeface="Calibri" pitchFamily="34" charset="-120"/>
              </a:rPr>
              <a:t> | </a:t>
            </a:r>
            <a:r>
              <a:rPr lang="en-US" sz="1250" b="1" dirty="0">
                <a:solidFill>
                  <a:srgbClr val="334155"/>
                </a:solidFill>
                <a:latin typeface="Calibri" pitchFamily="34" charset="0"/>
                <a:ea typeface="Calibri" pitchFamily="34" charset="-122"/>
                <a:cs typeface="Calibri" pitchFamily="34" charset="-120"/>
              </a:rPr>
              <a:t>3 conditions:</a:t>
            </a:r>
            <a:r>
              <a:rPr lang="en-US" sz="1250" dirty="0">
                <a:solidFill>
                  <a:srgbClr val="334155"/>
                </a:solidFill>
                <a:latin typeface="Calibri" pitchFamily="34" charset="0"/>
                <a:ea typeface="Calibri" pitchFamily="34" charset="-122"/>
                <a:cs typeface="Calibri" pitchFamily="34" charset="-120"/>
              </a:rPr>
              <a:t> Baseline, Stress, Amusement
70+ features extracted per 60s window
SMOTE used for class balancing</a:t>
            </a:r>
            <a:endParaRPr lang="en-US" sz="1250" dirty="0"/>
          </a:p>
        </p:txBody>
      </p:sp>
      <p:sp>
        <p:nvSpPr>
          <p:cNvPr id="10" name="Shape 8"/>
          <p:cNvSpPr/>
          <p:nvPr/>
        </p:nvSpPr>
        <p:spPr>
          <a:xfrm>
            <a:off x="4572000" y="822960"/>
            <a:ext cx="4297680" cy="39776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11" name="Shape 9"/>
          <p:cNvSpPr/>
          <p:nvPr/>
        </p:nvSpPr>
        <p:spPr>
          <a:xfrm>
            <a:off x="4572000" y="822960"/>
            <a:ext cx="4297680" cy="384048"/>
          </a:xfrm>
          <a:prstGeom prst="rect">
            <a:avLst/>
          </a:prstGeom>
          <a:solidFill>
            <a:srgbClr val="117A65"/>
          </a:solidFill>
          <a:ln w="12700">
            <a:solidFill>
              <a:srgbClr val="117A65"/>
            </a:solidFill>
            <a:prstDash val="solid"/>
          </a:ln>
        </p:spPr>
        <p:txBody>
          <a:bodyPr/>
          <a:lstStyle/>
          <a:p>
            <a:endParaRPr lang="en-IN"/>
          </a:p>
        </p:txBody>
      </p:sp>
      <p:sp>
        <p:nvSpPr>
          <p:cNvPr id="12" name="Text 10"/>
          <p:cNvSpPr/>
          <p:nvPr/>
        </p:nvSpPr>
        <p:spPr>
          <a:xfrm>
            <a:off x="4572000" y="822960"/>
            <a:ext cx="42976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ML Pipeline</a:t>
            </a:r>
            <a:endParaRPr lang="en-US" sz="1400" dirty="0"/>
          </a:p>
        </p:txBody>
      </p:sp>
      <p:sp>
        <p:nvSpPr>
          <p:cNvPr id="13" name="Shape 11"/>
          <p:cNvSpPr/>
          <p:nvPr/>
        </p:nvSpPr>
        <p:spPr>
          <a:xfrm>
            <a:off x="4709160" y="1325880"/>
            <a:ext cx="548640" cy="502920"/>
          </a:xfrm>
          <a:prstGeom prst="rect">
            <a:avLst/>
          </a:prstGeom>
          <a:solidFill>
            <a:srgbClr val="117A65"/>
          </a:solidFill>
          <a:ln w="12700">
            <a:solidFill>
              <a:srgbClr val="117A65"/>
            </a:solidFill>
            <a:prstDash val="solid"/>
          </a:ln>
        </p:spPr>
        <p:txBody>
          <a:bodyPr/>
          <a:lstStyle/>
          <a:p>
            <a:endParaRPr lang="en-IN"/>
          </a:p>
        </p:txBody>
      </p:sp>
      <p:sp>
        <p:nvSpPr>
          <p:cNvPr id="14" name="Text 12"/>
          <p:cNvSpPr/>
          <p:nvPr/>
        </p:nvSpPr>
        <p:spPr>
          <a:xfrm>
            <a:off x="4709160" y="1325880"/>
            <a:ext cx="548640" cy="502920"/>
          </a:xfrm>
          <a:prstGeom prst="rect">
            <a:avLst/>
          </a:prstGeom>
          <a:noFill/>
          <a:ln/>
        </p:spPr>
        <p:txBody>
          <a:bodyPr wrap="square" rtlCol="0" anchor="ctr"/>
          <a:lstStyle/>
          <a:p>
            <a:pPr marL="0" indent="0" algn="ctr">
              <a:buNone/>
            </a:pPr>
            <a:r>
              <a:rPr lang="en-US" sz="1400" b="1" dirty="0">
                <a:solidFill>
                  <a:srgbClr val="FFFFFF"/>
                </a:solidFill>
              </a:rPr>
              <a:t>1</a:t>
            </a:r>
            <a:endParaRPr lang="en-US" sz="1400" dirty="0"/>
          </a:p>
        </p:txBody>
      </p:sp>
      <p:sp>
        <p:nvSpPr>
          <p:cNvPr id="15" name="Text 13"/>
          <p:cNvSpPr/>
          <p:nvPr/>
        </p:nvSpPr>
        <p:spPr>
          <a:xfrm>
            <a:off x="5349240" y="1325880"/>
            <a:ext cx="3383280" cy="548640"/>
          </a:xfrm>
          <a:prstGeom prst="rect">
            <a:avLst/>
          </a:prstGeom>
          <a:noFill/>
          <a:ln/>
        </p:spPr>
        <p:txBody>
          <a:bodyPr wrap="square" rtlCol="0" anchor="t"/>
          <a:lstStyle/>
          <a:p>
            <a:pPr marL="0" indent="0">
              <a:buNone/>
            </a:pPr>
            <a:r>
              <a:rPr lang="en-US" sz="1150" b="1" dirty="0">
                <a:solidFill>
                  <a:srgbClr val="117A65"/>
                </a:solidFill>
                <a:latin typeface="Calibri" pitchFamily="34" charset="0"/>
                <a:ea typeface="Calibri" pitchFamily="34" charset="-122"/>
                <a:cs typeface="Calibri" pitchFamily="34" charset="-120"/>
              </a:rPr>
              <a:t>Preprocessing  </a:t>
            </a:r>
            <a:r>
              <a:rPr lang="en-US" sz="1150" dirty="0">
                <a:solidFill>
                  <a:srgbClr val="334155"/>
                </a:solidFill>
                <a:latin typeface="Calibri" pitchFamily="34" charset="0"/>
                <a:ea typeface="Calibri" pitchFamily="34" charset="-122"/>
                <a:cs typeface="Calibri" pitchFamily="34" charset="-120"/>
              </a:rPr>
              <a:t>LPF filtering (BVP fc=0.5Hz, EDA fc=1Hz)</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Z-score normalization per subject</a:t>
            </a:r>
            <a:endParaRPr lang="en-US" sz="1150" dirty="0"/>
          </a:p>
        </p:txBody>
      </p:sp>
      <p:sp>
        <p:nvSpPr>
          <p:cNvPr id="16" name="Shape 14"/>
          <p:cNvSpPr/>
          <p:nvPr/>
        </p:nvSpPr>
        <p:spPr>
          <a:xfrm>
            <a:off x="4709160" y="1993392"/>
            <a:ext cx="548640" cy="502920"/>
          </a:xfrm>
          <a:prstGeom prst="rect">
            <a:avLst/>
          </a:prstGeom>
          <a:solidFill>
            <a:srgbClr val="117A65"/>
          </a:solidFill>
          <a:ln w="12700">
            <a:solidFill>
              <a:srgbClr val="117A65"/>
            </a:solidFill>
            <a:prstDash val="solid"/>
          </a:ln>
        </p:spPr>
        <p:txBody>
          <a:bodyPr/>
          <a:lstStyle/>
          <a:p>
            <a:endParaRPr lang="en-IN"/>
          </a:p>
        </p:txBody>
      </p:sp>
      <p:sp>
        <p:nvSpPr>
          <p:cNvPr id="17" name="Text 15"/>
          <p:cNvSpPr/>
          <p:nvPr/>
        </p:nvSpPr>
        <p:spPr>
          <a:xfrm>
            <a:off x="4709160" y="1993392"/>
            <a:ext cx="548640" cy="502920"/>
          </a:xfrm>
          <a:prstGeom prst="rect">
            <a:avLst/>
          </a:prstGeom>
          <a:noFill/>
          <a:ln/>
        </p:spPr>
        <p:txBody>
          <a:bodyPr wrap="square" rtlCol="0" anchor="ctr"/>
          <a:lstStyle/>
          <a:p>
            <a:pPr marL="0" indent="0" algn="ctr">
              <a:buNone/>
            </a:pPr>
            <a:r>
              <a:rPr lang="en-US" sz="1400" b="1" dirty="0">
                <a:solidFill>
                  <a:srgbClr val="FFFFFF"/>
                </a:solidFill>
              </a:rPr>
              <a:t>2</a:t>
            </a:r>
            <a:endParaRPr lang="en-US" sz="1400" dirty="0"/>
          </a:p>
        </p:txBody>
      </p:sp>
      <p:sp>
        <p:nvSpPr>
          <p:cNvPr id="18" name="Text 16"/>
          <p:cNvSpPr/>
          <p:nvPr/>
        </p:nvSpPr>
        <p:spPr>
          <a:xfrm>
            <a:off x="5349240" y="1993392"/>
            <a:ext cx="3383280" cy="548640"/>
          </a:xfrm>
          <a:prstGeom prst="rect">
            <a:avLst/>
          </a:prstGeom>
          <a:noFill/>
          <a:ln/>
        </p:spPr>
        <p:txBody>
          <a:bodyPr wrap="square" rtlCol="0" anchor="t"/>
          <a:lstStyle/>
          <a:p>
            <a:pPr marL="0" indent="0">
              <a:buNone/>
            </a:pPr>
            <a:r>
              <a:rPr lang="en-US" sz="1150" b="1" dirty="0">
                <a:solidFill>
                  <a:srgbClr val="117A65"/>
                </a:solidFill>
                <a:latin typeface="Calibri" pitchFamily="34" charset="0"/>
                <a:ea typeface="Calibri" pitchFamily="34" charset="-122"/>
                <a:cs typeface="Calibri" pitchFamily="34" charset="-120"/>
              </a:rPr>
              <a:t>Feature Extraction  </a:t>
            </a:r>
            <a:r>
              <a:rPr lang="en-US" sz="1150" dirty="0">
                <a:solidFill>
                  <a:srgbClr val="334155"/>
                </a:solidFill>
                <a:latin typeface="Calibri" pitchFamily="34" charset="0"/>
                <a:ea typeface="Calibri" pitchFamily="34" charset="-122"/>
                <a:cs typeface="Calibri" pitchFamily="34" charset="-120"/>
              </a:rPr>
              <a:t>EDA peaks, RMSSD, SDNN, BVP entropy,</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HR stats, ACC signal vector magnitude</a:t>
            </a:r>
            <a:endParaRPr lang="en-US" sz="1150" dirty="0"/>
          </a:p>
        </p:txBody>
      </p:sp>
      <p:sp>
        <p:nvSpPr>
          <p:cNvPr id="19" name="Shape 17"/>
          <p:cNvSpPr/>
          <p:nvPr/>
        </p:nvSpPr>
        <p:spPr>
          <a:xfrm>
            <a:off x="4709160" y="2660904"/>
            <a:ext cx="548640" cy="502920"/>
          </a:xfrm>
          <a:prstGeom prst="rect">
            <a:avLst/>
          </a:prstGeom>
          <a:solidFill>
            <a:srgbClr val="117A65"/>
          </a:solidFill>
          <a:ln w="12700">
            <a:solidFill>
              <a:srgbClr val="117A65"/>
            </a:solidFill>
            <a:prstDash val="solid"/>
          </a:ln>
        </p:spPr>
        <p:txBody>
          <a:bodyPr/>
          <a:lstStyle/>
          <a:p>
            <a:endParaRPr lang="en-IN"/>
          </a:p>
        </p:txBody>
      </p:sp>
      <p:sp>
        <p:nvSpPr>
          <p:cNvPr id="20" name="Text 18"/>
          <p:cNvSpPr/>
          <p:nvPr/>
        </p:nvSpPr>
        <p:spPr>
          <a:xfrm>
            <a:off x="4709160" y="2660904"/>
            <a:ext cx="548640" cy="502920"/>
          </a:xfrm>
          <a:prstGeom prst="rect">
            <a:avLst/>
          </a:prstGeom>
          <a:noFill/>
          <a:ln/>
        </p:spPr>
        <p:txBody>
          <a:bodyPr wrap="square" rtlCol="0" anchor="ctr"/>
          <a:lstStyle/>
          <a:p>
            <a:pPr marL="0" indent="0" algn="ctr">
              <a:buNone/>
            </a:pPr>
            <a:r>
              <a:rPr lang="en-US" sz="1400" b="1" dirty="0">
                <a:solidFill>
                  <a:srgbClr val="FFFFFF"/>
                </a:solidFill>
              </a:rPr>
              <a:t>3</a:t>
            </a:r>
            <a:endParaRPr lang="en-US" sz="1400" dirty="0"/>
          </a:p>
        </p:txBody>
      </p:sp>
      <p:sp>
        <p:nvSpPr>
          <p:cNvPr id="21" name="Text 19"/>
          <p:cNvSpPr/>
          <p:nvPr/>
        </p:nvSpPr>
        <p:spPr>
          <a:xfrm>
            <a:off x="5349240" y="2660904"/>
            <a:ext cx="3383280" cy="548640"/>
          </a:xfrm>
          <a:prstGeom prst="rect">
            <a:avLst/>
          </a:prstGeom>
          <a:noFill/>
          <a:ln/>
        </p:spPr>
        <p:txBody>
          <a:bodyPr wrap="square" rtlCol="0" anchor="t"/>
          <a:lstStyle/>
          <a:p>
            <a:pPr marL="0" indent="0">
              <a:buNone/>
            </a:pPr>
            <a:r>
              <a:rPr lang="en-US" sz="1150" b="1" dirty="0">
                <a:solidFill>
                  <a:srgbClr val="117A65"/>
                </a:solidFill>
                <a:latin typeface="Calibri" pitchFamily="34" charset="0"/>
                <a:ea typeface="Calibri" pitchFamily="34" charset="-122"/>
                <a:cs typeface="Calibri" pitchFamily="34" charset="-120"/>
              </a:rPr>
              <a:t>Class Balancing  </a:t>
            </a:r>
            <a:r>
              <a:rPr lang="en-US" sz="1150" dirty="0">
                <a:solidFill>
                  <a:srgbClr val="334155"/>
                </a:solidFill>
                <a:latin typeface="Calibri" pitchFamily="34" charset="0"/>
                <a:ea typeface="Calibri" pitchFamily="34" charset="-122"/>
                <a:cs typeface="Calibri" pitchFamily="34" charset="-120"/>
              </a:rPr>
              <a:t>SMOTE synthetic oversampling</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for minority (stress) class</a:t>
            </a:r>
            <a:endParaRPr lang="en-US" sz="1150" dirty="0"/>
          </a:p>
        </p:txBody>
      </p:sp>
      <p:sp>
        <p:nvSpPr>
          <p:cNvPr id="22" name="Shape 20"/>
          <p:cNvSpPr/>
          <p:nvPr/>
        </p:nvSpPr>
        <p:spPr>
          <a:xfrm>
            <a:off x="4709160" y="3328416"/>
            <a:ext cx="548640" cy="502920"/>
          </a:xfrm>
          <a:prstGeom prst="rect">
            <a:avLst/>
          </a:prstGeom>
          <a:solidFill>
            <a:srgbClr val="117A65"/>
          </a:solidFill>
          <a:ln w="12700">
            <a:solidFill>
              <a:srgbClr val="117A65"/>
            </a:solidFill>
            <a:prstDash val="solid"/>
          </a:ln>
        </p:spPr>
        <p:txBody>
          <a:bodyPr/>
          <a:lstStyle/>
          <a:p>
            <a:endParaRPr lang="en-IN"/>
          </a:p>
        </p:txBody>
      </p:sp>
      <p:sp>
        <p:nvSpPr>
          <p:cNvPr id="23" name="Text 21"/>
          <p:cNvSpPr/>
          <p:nvPr/>
        </p:nvSpPr>
        <p:spPr>
          <a:xfrm>
            <a:off x="4709160" y="3328416"/>
            <a:ext cx="548640" cy="502920"/>
          </a:xfrm>
          <a:prstGeom prst="rect">
            <a:avLst/>
          </a:prstGeom>
          <a:noFill/>
          <a:ln/>
        </p:spPr>
        <p:txBody>
          <a:bodyPr wrap="square" rtlCol="0" anchor="ctr"/>
          <a:lstStyle/>
          <a:p>
            <a:pPr marL="0" indent="0" algn="ctr">
              <a:buNone/>
            </a:pPr>
            <a:r>
              <a:rPr lang="en-US" sz="1400" b="1" dirty="0">
                <a:solidFill>
                  <a:srgbClr val="FFFFFF"/>
                </a:solidFill>
              </a:rPr>
              <a:t>4</a:t>
            </a:r>
            <a:endParaRPr lang="en-US" sz="1400" dirty="0"/>
          </a:p>
        </p:txBody>
      </p:sp>
      <p:sp>
        <p:nvSpPr>
          <p:cNvPr id="24" name="Text 22"/>
          <p:cNvSpPr/>
          <p:nvPr/>
        </p:nvSpPr>
        <p:spPr>
          <a:xfrm>
            <a:off x="5349240" y="3328416"/>
            <a:ext cx="3383280" cy="548640"/>
          </a:xfrm>
          <a:prstGeom prst="rect">
            <a:avLst/>
          </a:prstGeom>
          <a:noFill/>
          <a:ln/>
        </p:spPr>
        <p:txBody>
          <a:bodyPr wrap="square" rtlCol="0" anchor="t"/>
          <a:lstStyle/>
          <a:p>
            <a:pPr marL="0" indent="0">
              <a:buNone/>
            </a:pPr>
            <a:r>
              <a:rPr lang="en-US" sz="1150" b="1" dirty="0">
                <a:solidFill>
                  <a:srgbClr val="117A65"/>
                </a:solidFill>
                <a:latin typeface="Calibri" pitchFamily="34" charset="0"/>
                <a:ea typeface="Calibri" pitchFamily="34" charset="-122"/>
                <a:cs typeface="Calibri" pitchFamily="34" charset="-120"/>
              </a:rPr>
              <a:t>Model Training  </a:t>
            </a:r>
            <a:r>
              <a:rPr lang="en-US" sz="1150" dirty="0">
                <a:solidFill>
                  <a:srgbClr val="334155"/>
                </a:solidFill>
                <a:latin typeface="Calibri" pitchFamily="34" charset="0"/>
                <a:ea typeface="Calibri" pitchFamily="34" charset="-122"/>
                <a:cs typeface="Calibri" pitchFamily="34" charset="-120"/>
              </a:rPr>
              <a:t>Random Forest, SVM (RBF), XGBoost</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5-fold stratified cross-validation</a:t>
            </a:r>
            <a:endParaRPr lang="en-US" sz="1150" dirty="0"/>
          </a:p>
        </p:txBody>
      </p:sp>
      <p:sp>
        <p:nvSpPr>
          <p:cNvPr id="25" name="Shape 23"/>
          <p:cNvSpPr/>
          <p:nvPr/>
        </p:nvSpPr>
        <p:spPr>
          <a:xfrm>
            <a:off x="4709160" y="3995928"/>
            <a:ext cx="548640" cy="502920"/>
          </a:xfrm>
          <a:prstGeom prst="rect">
            <a:avLst/>
          </a:prstGeom>
          <a:solidFill>
            <a:srgbClr val="117A65"/>
          </a:solidFill>
          <a:ln w="12700">
            <a:solidFill>
              <a:srgbClr val="117A65"/>
            </a:solidFill>
            <a:prstDash val="solid"/>
          </a:ln>
        </p:spPr>
        <p:txBody>
          <a:bodyPr/>
          <a:lstStyle/>
          <a:p>
            <a:endParaRPr lang="en-IN"/>
          </a:p>
        </p:txBody>
      </p:sp>
      <p:sp>
        <p:nvSpPr>
          <p:cNvPr id="26" name="Text 24"/>
          <p:cNvSpPr/>
          <p:nvPr/>
        </p:nvSpPr>
        <p:spPr>
          <a:xfrm>
            <a:off x="4709160" y="3995928"/>
            <a:ext cx="548640" cy="502920"/>
          </a:xfrm>
          <a:prstGeom prst="rect">
            <a:avLst/>
          </a:prstGeom>
          <a:noFill/>
          <a:ln/>
        </p:spPr>
        <p:txBody>
          <a:bodyPr wrap="square" rtlCol="0" anchor="ctr"/>
          <a:lstStyle/>
          <a:p>
            <a:pPr marL="0" indent="0" algn="ctr">
              <a:buNone/>
            </a:pPr>
            <a:r>
              <a:rPr lang="en-US" sz="1400" b="1" dirty="0">
                <a:solidFill>
                  <a:srgbClr val="FFFFFF"/>
                </a:solidFill>
              </a:rPr>
              <a:t>5</a:t>
            </a:r>
            <a:endParaRPr lang="en-US" sz="1400" dirty="0"/>
          </a:p>
        </p:txBody>
      </p:sp>
      <p:sp>
        <p:nvSpPr>
          <p:cNvPr id="27" name="Text 25"/>
          <p:cNvSpPr/>
          <p:nvPr/>
        </p:nvSpPr>
        <p:spPr>
          <a:xfrm>
            <a:off x="5349240" y="3995928"/>
            <a:ext cx="3383280" cy="548640"/>
          </a:xfrm>
          <a:prstGeom prst="rect">
            <a:avLst/>
          </a:prstGeom>
          <a:noFill/>
          <a:ln/>
        </p:spPr>
        <p:txBody>
          <a:bodyPr wrap="square" rtlCol="0" anchor="t"/>
          <a:lstStyle/>
          <a:p>
            <a:pPr marL="0" indent="0">
              <a:buNone/>
            </a:pPr>
            <a:r>
              <a:rPr lang="en-US" sz="1150" b="1" dirty="0">
                <a:solidFill>
                  <a:srgbClr val="117A65"/>
                </a:solidFill>
                <a:latin typeface="Calibri" pitchFamily="34" charset="0"/>
                <a:ea typeface="Calibri" pitchFamily="34" charset="-122"/>
                <a:cs typeface="Calibri" pitchFamily="34" charset="-120"/>
              </a:rPr>
              <a:t>Interpretability  </a:t>
            </a:r>
            <a:r>
              <a:rPr lang="en-US" sz="1150" dirty="0">
                <a:solidFill>
                  <a:srgbClr val="334155"/>
                </a:solidFill>
                <a:latin typeface="Calibri" pitchFamily="34" charset="0"/>
                <a:ea typeface="Calibri" pitchFamily="34" charset="-122"/>
                <a:cs typeface="Calibri" pitchFamily="34" charset="-120"/>
              </a:rPr>
              <a:t>SHAP values — EDA, HR, RMSSD</a:t>
            </a: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identified as top stress markers</a:t>
            </a:r>
            <a:endParaRPr lang="en-US" sz="1150" dirty="0"/>
          </a:p>
        </p:txBody>
      </p:sp>
      <p:pic>
        <p:nvPicPr>
          <p:cNvPr id="28" name="Picture 27">
            <a:extLst>
              <a:ext uri="{FF2B5EF4-FFF2-40B4-BE49-F238E27FC236}">
                <a16:creationId xmlns:a16="http://schemas.microsoft.com/office/drawing/2014/main" id="{B44CFC54-8BEF-A92C-60F0-4AC9FEAE992F}"/>
              </a:ext>
            </a:extLst>
          </p:cNvPr>
          <p:cNvPicPr>
            <a:picLocks noChangeAspect="1"/>
          </p:cNvPicPr>
          <p:nvPr/>
        </p:nvPicPr>
        <p:blipFill>
          <a:blip r:embed="rId3"/>
          <a:stretch>
            <a:fillRect/>
          </a:stretch>
        </p:blipFill>
        <p:spPr>
          <a:xfrm>
            <a:off x="8191940" y="0"/>
            <a:ext cx="898279" cy="733163"/>
          </a:xfrm>
          <a:prstGeom prst="rect">
            <a:avLst/>
          </a:prstGeom>
        </p:spPr>
      </p:pic>
      <p:pic>
        <p:nvPicPr>
          <p:cNvPr id="29" name="Picture 28">
            <a:extLst>
              <a:ext uri="{FF2B5EF4-FFF2-40B4-BE49-F238E27FC236}">
                <a16:creationId xmlns:a16="http://schemas.microsoft.com/office/drawing/2014/main" id="{A4F0F496-E9AD-6060-5203-6ADE3ADD5355}"/>
              </a:ext>
            </a:extLst>
          </p:cNvPr>
          <p:cNvPicPr>
            <a:picLocks noChangeAspect="1"/>
          </p:cNvPicPr>
          <p:nvPr/>
        </p:nvPicPr>
        <p:blipFill>
          <a:blip r:embed="rId4"/>
          <a:stretch>
            <a:fillRect/>
          </a:stretch>
        </p:blipFill>
        <p:spPr>
          <a:xfrm>
            <a:off x="-77001" y="11097"/>
            <a:ext cx="1280160" cy="72042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CA28B59E-22EE-7EE3-6076-18C55EFBC7A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594DE08-54D4-FE27-4BDC-BF64EE8C2E0F}"/>
              </a:ext>
            </a:extLst>
          </p:cNvPr>
          <p:cNvSpPr/>
          <p:nvPr/>
        </p:nvSpPr>
        <p:spPr>
          <a:xfrm>
            <a:off x="0" y="0"/>
            <a:ext cx="9144000" cy="685800"/>
          </a:xfrm>
          <a:prstGeom prst="rect">
            <a:avLst/>
          </a:prstGeom>
          <a:solidFill>
            <a:schemeClr val="accent6">
              <a:lumMod val="20000"/>
              <a:lumOff val="80000"/>
            </a:schemeClr>
          </a:solidFill>
          <a:ln w="12700">
            <a:solidFill>
              <a:srgbClr val="117A65"/>
            </a:solidFill>
            <a:prstDash val="solid"/>
          </a:ln>
        </p:spPr>
        <p:txBody>
          <a:bodyPr/>
          <a:lstStyle/>
          <a:p>
            <a:endParaRPr lang="en-IN"/>
          </a:p>
        </p:txBody>
      </p:sp>
      <p:sp>
        <p:nvSpPr>
          <p:cNvPr id="3" name="Text 1">
            <a:extLst>
              <a:ext uri="{FF2B5EF4-FFF2-40B4-BE49-F238E27FC236}">
                <a16:creationId xmlns:a16="http://schemas.microsoft.com/office/drawing/2014/main" id="{C5F75638-8E3A-6843-CBCA-4833A3D5B41B}"/>
              </a:ext>
            </a:extLst>
          </p:cNvPr>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a:t>
            </a:r>
            <a:r>
              <a:rPr lang="en-US" sz="2200" b="1" dirty="0" err="1">
                <a:latin typeface="Calibri" pitchFamily="34" charset="0"/>
                <a:ea typeface="Calibri" pitchFamily="34" charset="-122"/>
                <a:cs typeface="Calibri" pitchFamily="34" charset="-120"/>
              </a:rPr>
              <a:t>MindWatch</a:t>
            </a:r>
            <a:r>
              <a:rPr lang="en-US" sz="2200" b="1" dirty="0">
                <a:latin typeface="Calibri" pitchFamily="34" charset="0"/>
                <a:ea typeface="Calibri" pitchFamily="34" charset="-122"/>
                <a:cs typeface="Calibri" pitchFamily="34" charset="-120"/>
              </a:rPr>
              <a:t>: System Architecture</a:t>
            </a:r>
            <a:endParaRPr lang="en-US" sz="2200" dirty="0"/>
          </a:p>
        </p:txBody>
      </p:sp>
      <p:pic>
        <p:nvPicPr>
          <p:cNvPr id="28" name="Picture 27">
            <a:extLst>
              <a:ext uri="{FF2B5EF4-FFF2-40B4-BE49-F238E27FC236}">
                <a16:creationId xmlns:a16="http://schemas.microsoft.com/office/drawing/2014/main" id="{6C93179C-79D2-5EF5-43D0-F72AAD55CE85}"/>
              </a:ext>
            </a:extLst>
          </p:cNvPr>
          <p:cNvPicPr>
            <a:picLocks noChangeAspect="1"/>
          </p:cNvPicPr>
          <p:nvPr/>
        </p:nvPicPr>
        <p:blipFill>
          <a:blip r:embed="rId3"/>
          <a:stretch>
            <a:fillRect/>
          </a:stretch>
        </p:blipFill>
        <p:spPr>
          <a:xfrm>
            <a:off x="8191940" y="0"/>
            <a:ext cx="898279" cy="733163"/>
          </a:xfrm>
          <a:prstGeom prst="rect">
            <a:avLst/>
          </a:prstGeom>
        </p:spPr>
      </p:pic>
      <p:pic>
        <p:nvPicPr>
          <p:cNvPr id="29" name="Picture 28">
            <a:extLst>
              <a:ext uri="{FF2B5EF4-FFF2-40B4-BE49-F238E27FC236}">
                <a16:creationId xmlns:a16="http://schemas.microsoft.com/office/drawing/2014/main" id="{9E74520F-4B11-F70B-14A0-D9A90EB52D11}"/>
              </a:ext>
            </a:extLst>
          </p:cNvPr>
          <p:cNvPicPr>
            <a:picLocks noChangeAspect="1"/>
          </p:cNvPicPr>
          <p:nvPr/>
        </p:nvPicPr>
        <p:blipFill>
          <a:blip r:embed="rId4"/>
          <a:stretch>
            <a:fillRect/>
          </a:stretch>
        </p:blipFill>
        <p:spPr>
          <a:xfrm>
            <a:off x="-77001" y="11097"/>
            <a:ext cx="1280160" cy="720423"/>
          </a:xfrm>
          <a:prstGeom prst="rect">
            <a:avLst/>
          </a:prstGeom>
        </p:spPr>
      </p:pic>
      <p:pic>
        <p:nvPicPr>
          <p:cNvPr id="31" name="Picture 30">
            <a:extLst>
              <a:ext uri="{FF2B5EF4-FFF2-40B4-BE49-F238E27FC236}">
                <a16:creationId xmlns:a16="http://schemas.microsoft.com/office/drawing/2014/main" id="{F701C4B7-191B-B666-2AAE-D9821094B8B3}"/>
              </a:ext>
            </a:extLst>
          </p:cNvPr>
          <p:cNvPicPr>
            <a:picLocks noChangeAspect="1"/>
          </p:cNvPicPr>
          <p:nvPr/>
        </p:nvPicPr>
        <p:blipFill>
          <a:blip r:embed="rId5"/>
          <a:stretch>
            <a:fillRect/>
          </a:stretch>
        </p:blipFill>
        <p:spPr>
          <a:xfrm>
            <a:off x="1945193" y="702582"/>
            <a:ext cx="5253614" cy="4268561"/>
          </a:xfrm>
          <a:prstGeom prst="rect">
            <a:avLst/>
          </a:prstGeom>
        </p:spPr>
      </p:pic>
    </p:spTree>
    <p:extLst>
      <p:ext uri="{BB962C8B-B14F-4D97-AF65-F5344CB8AC3E}">
        <p14:creationId xmlns:p14="http://schemas.microsoft.com/office/powerpoint/2010/main" val="3384445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accent6">
              <a:lumMod val="20000"/>
              <a:lumOff val="80000"/>
            </a:schemeClr>
          </a:solidFill>
          <a:ln w="12700">
            <a:solidFill>
              <a:srgbClr val="117A65"/>
            </a:solidFill>
            <a:prstDash val="solid"/>
          </a:ln>
        </p:spPr>
        <p:txBody>
          <a:bodyPr/>
          <a:lstStyle/>
          <a:p>
            <a:endParaRPr lang="en-IN"/>
          </a:p>
        </p:txBody>
      </p:sp>
      <p:sp>
        <p:nvSpPr>
          <p:cNvPr id="3" name="Text 1"/>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MindWatch: Results &amp; Performance</a:t>
            </a:r>
            <a:endParaRPr lang="en-US" sz="2200" dirty="0"/>
          </a:p>
        </p:txBody>
      </p:sp>
      <p:sp>
        <p:nvSpPr>
          <p:cNvPr id="4" name="Shape 2"/>
          <p:cNvSpPr/>
          <p:nvPr/>
        </p:nvSpPr>
        <p:spPr>
          <a:xfrm>
            <a:off x="274320" y="822960"/>
            <a:ext cx="1920240" cy="1280160"/>
          </a:xfrm>
          <a:prstGeom prst="rect">
            <a:avLst/>
          </a:prstGeom>
          <a:solidFill>
            <a:srgbClr val="117A65"/>
          </a:solidFill>
          <a:ln w="12700">
            <a:solidFill>
              <a:srgbClr val="117A65"/>
            </a:solidFill>
            <a:prstDash val="solid"/>
          </a:ln>
          <a:effectLst>
            <a:outerShdw blurRad="101600" dist="38100" dir="8100000" algn="bl" rotWithShape="0">
              <a:srgbClr val="000000">
                <a:alpha val="12000"/>
              </a:srgbClr>
            </a:outerShdw>
          </a:effectLst>
        </p:spPr>
        <p:txBody>
          <a:bodyPr/>
          <a:lstStyle/>
          <a:p>
            <a:endParaRPr lang="en-IN"/>
          </a:p>
        </p:txBody>
      </p:sp>
      <p:sp>
        <p:nvSpPr>
          <p:cNvPr id="5" name="Text 3"/>
          <p:cNvSpPr/>
          <p:nvPr/>
        </p:nvSpPr>
        <p:spPr>
          <a:xfrm>
            <a:off x="274320" y="841248"/>
            <a:ext cx="1920240" cy="777240"/>
          </a:xfrm>
          <a:prstGeom prst="rect">
            <a:avLst/>
          </a:prstGeom>
          <a:noFill/>
          <a:ln/>
        </p:spPr>
        <p:txBody>
          <a:bodyPr wrap="square" rtlCol="0" anchor="ctr"/>
          <a:lstStyle/>
          <a:p>
            <a:pPr marL="0" indent="0" algn="ctr">
              <a:buNone/>
            </a:pPr>
            <a:r>
              <a:rPr lang="en-US" sz="3600" b="1" dirty="0">
                <a:solidFill>
                  <a:srgbClr val="FFFFFF"/>
                </a:solidFill>
              </a:rPr>
              <a:t>97%</a:t>
            </a:r>
            <a:endParaRPr lang="en-US" sz="3600" dirty="0"/>
          </a:p>
        </p:txBody>
      </p:sp>
      <p:sp>
        <p:nvSpPr>
          <p:cNvPr id="6" name="Text 4"/>
          <p:cNvSpPr/>
          <p:nvPr/>
        </p:nvSpPr>
        <p:spPr>
          <a:xfrm>
            <a:off x="274320" y="1600200"/>
            <a:ext cx="1920240" cy="457200"/>
          </a:xfrm>
          <a:prstGeom prst="rect">
            <a:avLst/>
          </a:prstGeom>
          <a:noFill/>
          <a:ln/>
        </p:spPr>
        <p:txBody>
          <a:bodyPr wrap="square" rtlCol="0" anchor="ctr"/>
          <a:lstStyle/>
          <a:p>
            <a:pPr marL="0" indent="0" algn="ctr">
              <a:buNone/>
            </a:pPr>
            <a:r>
              <a:rPr lang="en-US" sz="1200" dirty="0">
                <a:solidFill>
                  <a:srgbClr val="ABEBC6"/>
                </a:solidFill>
              </a:rPr>
              <a:t>XGBoost Accuracy</a:t>
            </a:r>
            <a:endParaRPr lang="en-US" sz="1200" dirty="0"/>
          </a:p>
        </p:txBody>
      </p:sp>
      <p:sp>
        <p:nvSpPr>
          <p:cNvPr id="7" name="Shape 5"/>
          <p:cNvSpPr/>
          <p:nvPr/>
        </p:nvSpPr>
        <p:spPr>
          <a:xfrm>
            <a:off x="2423160" y="822960"/>
            <a:ext cx="1920240" cy="1280160"/>
          </a:xfrm>
          <a:prstGeom prst="rect">
            <a:avLst/>
          </a:prstGeom>
          <a:solidFill>
            <a:srgbClr val="117A65"/>
          </a:solidFill>
          <a:ln w="12700">
            <a:solidFill>
              <a:srgbClr val="117A65"/>
            </a:solidFill>
            <a:prstDash val="solid"/>
          </a:ln>
          <a:effectLst>
            <a:outerShdw blurRad="101600" dist="38100" dir="8100000" algn="bl" rotWithShape="0">
              <a:srgbClr val="000000">
                <a:alpha val="12000"/>
              </a:srgbClr>
            </a:outerShdw>
          </a:effectLst>
        </p:spPr>
        <p:txBody>
          <a:bodyPr/>
          <a:lstStyle/>
          <a:p>
            <a:endParaRPr lang="en-IN"/>
          </a:p>
        </p:txBody>
      </p:sp>
      <p:sp>
        <p:nvSpPr>
          <p:cNvPr id="8" name="Text 6"/>
          <p:cNvSpPr/>
          <p:nvPr/>
        </p:nvSpPr>
        <p:spPr>
          <a:xfrm>
            <a:off x="2423160" y="841248"/>
            <a:ext cx="1920240" cy="777240"/>
          </a:xfrm>
          <a:prstGeom prst="rect">
            <a:avLst/>
          </a:prstGeom>
          <a:noFill/>
          <a:ln/>
        </p:spPr>
        <p:txBody>
          <a:bodyPr wrap="square" rtlCol="0" anchor="ctr"/>
          <a:lstStyle/>
          <a:p>
            <a:pPr marL="0" indent="0" algn="ctr">
              <a:buNone/>
            </a:pPr>
            <a:r>
              <a:rPr lang="en-US" sz="3600" b="1" dirty="0">
                <a:solidFill>
                  <a:srgbClr val="FFFFFF"/>
                </a:solidFill>
              </a:rPr>
              <a:t>0.99</a:t>
            </a:r>
            <a:endParaRPr lang="en-US" sz="3600" dirty="0"/>
          </a:p>
        </p:txBody>
      </p:sp>
      <p:sp>
        <p:nvSpPr>
          <p:cNvPr id="9" name="Text 7"/>
          <p:cNvSpPr/>
          <p:nvPr/>
        </p:nvSpPr>
        <p:spPr>
          <a:xfrm>
            <a:off x="2423160" y="1600200"/>
            <a:ext cx="1920240" cy="457200"/>
          </a:xfrm>
          <a:prstGeom prst="rect">
            <a:avLst/>
          </a:prstGeom>
          <a:noFill/>
          <a:ln/>
        </p:spPr>
        <p:txBody>
          <a:bodyPr wrap="square" rtlCol="0" anchor="ctr"/>
          <a:lstStyle/>
          <a:p>
            <a:pPr marL="0" indent="0" algn="ctr">
              <a:buNone/>
            </a:pPr>
            <a:r>
              <a:rPr lang="en-US" sz="1200" dirty="0">
                <a:solidFill>
                  <a:srgbClr val="ABEBC6"/>
                </a:solidFill>
              </a:rPr>
              <a:t>ROC-AUC</a:t>
            </a:r>
            <a:endParaRPr lang="en-US" sz="1200" dirty="0"/>
          </a:p>
        </p:txBody>
      </p:sp>
      <p:sp>
        <p:nvSpPr>
          <p:cNvPr id="10" name="Shape 8"/>
          <p:cNvSpPr/>
          <p:nvPr/>
        </p:nvSpPr>
        <p:spPr>
          <a:xfrm>
            <a:off x="4572000" y="822960"/>
            <a:ext cx="1920240" cy="1280160"/>
          </a:xfrm>
          <a:prstGeom prst="rect">
            <a:avLst/>
          </a:prstGeom>
          <a:solidFill>
            <a:srgbClr val="1A8A74"/>
          </a:solidFill>
          <a:ln w="12700">
            <a:solidFill>
              <a:srgbClr val="1A8A74"/>
            </a:solidFill>
            <a:prstDash val="solid"/>
          </a:ln>
          <a:effectLst>
            <a:outerShdw blurRad="101600" dist="38100" dir="8100000" algn="bl" rotWithShape="0">
              <a:srgbClr val="000000">
                <a:alpha val="12000"/>
              </a:srgbClr>
            </a:outerShdw>
          </a:effectLst>
        </p:spPr>
        <p:txBody>
          <a:bodyPr/>
          <a:lstStyle/>
          <a:p>
            <a:endParaRPr lang="en-IN"/>
          </a:p>
        </p:txBody>
      </p:sp>
      <p:sp>
        <p:nvSpPr>
          <p:cNvPr id="11" name="Text 9"/>
          <p:cNvSpPr/>
          <p:nvPr/>
        </p:nvSpPr>
        <p:spPr>
          <a:xfrm>
            <a:off x="4572000" y="841248"/>
            <a:ext cx="1920240" cy="777240"/>
          </a:xfrm>
          <a:prstGeom prst="rect">
            <a:avLst/>
          </a:prstGeom>
          <a:noFill/>
          <a:ln/>
        </p:spPr>
        <p:txBody>
          <a:bodyPr wrap="square" rtlCol="0" anchor="ctr"/>
          <a:lstStyle/>
          <a:p>
            <a:pPr marL="0" indent="0" algn="ctr">
              <a:buNone/>
            </a:pPr>
            <a:r>
              <a:rPr lang="en-US" sz="3600" b="1" dirty="0">
                <a:solidFill>
                  <a:srgbClr val="FFFFFF"/>
                </a:solidFill>
              </a:rPr>
              <a:t>96%</a:t>
            </a:r>
            <a:endParaRPr lang="en-US" sz="3600" dirty="0"/>
          </a:p>
        </p:txBody>
      </p:sp>
      <p:sp>
        <p:nvSpPr>
          <p:cNvPr id="12" name="Text 10"/>
          <p:cNvSpPr/>
          <p:nvPr/>
        </p:nvSpPr>
        <p:spPr>
          <a:xfrm>
            <a:off x="4572000" y="1600200"/>
            <a:ext cx="1920240" cy="457200"/>
          </a:xfrm>
          <a:prstGeom prst="rect">
            <a:avLst/>
          </a:prstGeom>
          <a:noFill/>
          <a:ln/>
        </p:spPr>
        <p:txBody>
          <a:bodyPr wrap="square" rtlCol="0" anchor="ctr"/>
          <a:lstStyle/>
          <a:p>
            <a:pPr marL="0" indent="0" algn="ctr">
              <a:buNone/>
            </a:pPr>
            <a:r>
              <a:rPr lang="en-US" sz="1200" dirty="0">
                <a:solidFill>
                  <a:srgbClr val="ABEBC6"/>
                </a:solidFill>
              </a:rPr>
              <a:t>Random Forest Acc</a:t>
            </a:r>
            <a:endParaRPr lang="en-US" sz="1200" dirty="0"/>
          </a:p>
        </p:txBody>
      </p:sp>
      <p:sp>
        <p:nvSpPr>
          <p:cNvPr id="13" name="Shape 11"/>
          <p:cNvSpPr/>
          <p:nvPr/>
        </p:nvSpPr>
        <p:spPr>
          <a:xfrm>
            <a:off x="6720840" y="822960"/>
            <a:ext cx="1920240" cy="1280160"/>
          </a:xfrm>
          <a:prstGeom prst="rect">
            <a:avLst/>
          </a:prstGeom>
          <a:solidFill>
            <a:srgbClr val="1A8A74"/>
          </a:solidFill>
          <a:ln w="12700">
            <a:solidFill>
              <a:srgbClr val="1A8A74"/>
            </a:solidFill>
            <a:prstDash val="solid"/>
          </a:ln>
          <a:effectLst>
            <a:outerShdw blurRad="101600" dist="38100" dir="8100000" algn="bl" rotWithShape="0">
              <a:srgbClr val="000000">
                <a:alpha val="12000"/>
              </a:srgbClr>
            </a:outerShdw>
          </a:effectLst>
        </p:spPr>
        <p:txBody>
          <a:bodyPr/>
          <a:lstStyle/>
          <a:p>
            <a:endParaRPr lang="en-IN"/>
          </a:p>
        </p:txBody>
      </p:sp>
      <p:sp>
        <p:nvSpPr>
          <p:cNvPr id="14" name="Text 12"/>
          <p:cNvSpPr/>
          <p:nvPr/>
        </p:nvSpPr>
        <p:spPr>
          <a:xfrm>
            <a:off x="6720840" y="841248"/>
            <a:ext cx="1920240" cy="777240"/>
          </a:xfrm>
          <a:prstGeom prst="rect">
            <a:avLst/>
          </a:prstGeom>
          <a:noFill/>
          <a:ln/>
        </p:spPr>
        <p:txBody>
          <a:bodyPr wrap="square" rtlCol="0" anchor="ctr"/>
          <a:lstStyle/>
          <a:p>
            <a:pPr marL="0" indent="0" algn="ctr">
              <a:buNone/>
            </a:pPr>
            <a:r>
              <a:rPr lang="en-US" sz="3600" b="1" dirty="0">
                <a:solidFill>
                  <a:srgbClr val="FFFFFF"/>
                </a:solidFill>
              </a:rPr>
              <a:t>0.985</a:t>
            </a:r>
            <a:endParaRPr lang="en-US" sz="3600" dirty="0"/>
          </a:p>
        </p:txBody>
      </p:sp>
      <p:sp>
        <p:nvSpPr>
          <p:cNvPr id="15" name="Text 13"/>
          <p:cNvSpPr/>
          <p:nvPr/>
        </p:nvSpPr>
        <p:spPr>
          <a:xfrm>
            <a:off x="6720840" y="1600200"/>
            <a:ext cx="1920240" cy="457200"/>
          </a:xfrm>
          <a:prstGeom prst="rect">
            <a:avLst/>
          </a:prstGeom>
          <a:noFill/>
          <a:ln/>
        </p:spPr>
        <p:txBody>
          <a:bodyPr wrap="square" rtlCol="0" anchor="ctr"/>
          <a:lstStyle/>
          <a:p>
            <a:pPr marL="0" indent="0" algn="ctr">
              <a:buNone/>
            </a:pPr>
            <a:r>
              <a:rPr lang="en-US" sz="1200" dirty="0">
                <a:solidFill>
                  <a:srgbClr val="ABEBC6"/>
                </a:solidFill>
              </a:rPr>
              <a:t>RF ROC-AUC</a:t>
            </a:r>
            <a:endParaRPr lang="en-US" sz="1200" dirty="0"/>
          </a:p>
        </p:txBody>
      </p:sp>
      <p:sp>
        <p:nvSpPr>
          <p:cNvPr id="16" name="Text 14"/>
          <p:cNvSpPr/>
          <p:nvPr/>
        </p:nvSpPr>
        <p:spPr>
          <a:xfrm>
            <a:off x="274320" y="2267712"/>
            <a:ext cx="8595360" cy="347472"/>
          </a:xfrm>
          <a:prstGeom prst="rect">
            <a:avLst/>
          </a:prstGeom>
          <a:noFill/>
          <a:ln/>
        </p:spPr>
        <p:txBody>
          <a:bodyPr wrap="square" rtlCol="0" anchor="ctr"/>
          <a:lstStyle/>
          <a:p>
            <a:pPr marL="0" indent="0">
              <a:buNone/>
            </a:pPr>
            <a:r>
              <a:rPr lang="en-US" sz="1500" b="1" dirty="0">
                <a:solidFill>
                  <a:srgbClr val="117A65"/>
                </a:solidFill>
                <a:latin typeface="Calibri" pitchFamily="34" charset="0"/>
                <a:ea typeface="Calibri" pitchFamily="34" charset="-122"/>
                <a:cs typeface="Calibri" pitchFamily="34" charset="-120"/>
              </a:rPr>
              <a:t>Model Comparison</a:t>
            </a:r>
            <a:endParaRPr lang="en-US" sz="15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2651760"/>
          <a:ext cx="8595360" cy="2304288"/>
        </p:xfrm>
        <a:graphic>
          <a:graphicData uri="http://schemas.openxmlformats.org/drawingml/2006/table">
            <a:tbl>
              <a:tblPr/>
              <a:tblGrid>
                <a:gridCol w="1719072">
                  <a:extLst>
                    <a:ext uri="{9D8B030D-6E8A-4147-A177-3AD203B41FA5}">
                      <a16:colId xmlns:a16="http://schemas.microsoft.com/office/drawing/2014/main" val="20000"/>
                    </a:ext>
                  </a:extLst>
                </a:gridCol>
                <a:gridCol w="1719072">
                  <a:extLst>
                    <a:ext uri="{9D8B030D-6E8A-4147-A177-3AD203B41FA5}">
                      <a16:colId xmlns:a16="http://schemas.microsoft.com/office/drawing/2014/main" val="20001"/>
                    </a:ext>
                  </a:extLst>
                </a:gridCol>
                <a:gridCol w="1719072">
                  <a:extLst>
                    <a:ext uri="{9D8B030D-6E8A-4147-A177-3AD203B41FA5}">
                      <a16:colId xmlns:a16="http://schemas.microsoft.com/office/drawing/2014/main" val="20002"/>
                    </a:ext>
                  </a:extLst>
                </a:gridCol>
                <a:gridCol w="1719072">
                  <a:extLst>
                    <a:ext uri="{9D8B030D-6E8A-4147-A177-3AD203B41FA5}">
                      <a16:colId xmlns:a16="http://schemas.microsoft.com/office/drawing/2014/main" val="20003"/>
                    </a:ext>
                  </a:extLst>
                </a:gridCol>
                <a:gridCol w="1719072">
                  <a:extLst>
                    <a:ext uri="{9D8B030D-6E8A-4147-A177-3AD203B41FA5}">
                      <a16:colId xmlns:a16="http://schemas.microsoft.com/office/drawing/2014/main" val="20004"/>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Model</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17A6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Accuracy</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17A6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Precision</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17A6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Recall</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17A65"/>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ROC-AUC</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17A65"/>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XGBoost ★</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0.97</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0.97</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0.95</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0.996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extLst>
                  <a:ext uri="{0D108BD9-81ED-4DB2-BD59-A6C34878D82A}">
                    <a16:rowId xmlns:a16="http://schemas.microsoft.com/office/drawing/2014/main" val="10001"/>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Random Forest</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0.98</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0.985</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MLP Neural Net</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0.97</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0.98</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Naïve Bayes</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0.67</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0.50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0.76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0.712</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Logistic Regression</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0.66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0.46</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0.27</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0.611</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pic>
        <p:nvPicPr>
          <p:cNvPr id="18" name="Picture 17">
            <a:extLst>
              <a:ext uri="{FF2B5EF4-FFF2-40B4-BE49-F238E27FC236}">
                <a16:creationId xmlns:a16="http://schemas.microsoft.com/office/drawing/2014/main" id="{FCE76841-0CDE-017F-D954-D1DA3B0ED614}"/>
              </a:ext>
            </a:extLst>
          </p:cNvPr>
          <p:cNvPicPr>
            <a:picLocks noChangeAspect="1"/>
          </p:cNvPicPr>
          <p:nvPr/>
        </p:nvPicPr>
        <p:blipFill>
          <a:blip r:embed="rId3"/>
          <a:stretch>
            <a:fillRect/>
          </a:stretch>
        </p:blipFill>
        <p:spPr>
          <a:xfrm>
            <a:off x="8191940" y="0"/>
            <a:ext cx="898279" cy="733163"/>
          </a:xfrm>
          <a:prstGeom prst="rect">
            <a:avLst/>
          </a:prstGeom>
        </p:spPr>
      </p:pic>
      <p:pic>
        <p:nvPicPr>
          <p:cNvPr id="19" name="Picture 18">
            <a:extLst>
              <a:ext uri="{FF2B5EF4-FFF2-40B4-BE49-F238E27FC236}">
                <a16:creationId xmlns:a16="http://schemas.microsoft.com/office/drawing/2014/main" id="{2A32E74E-7BF0-AE2B-D16A-92D82357B3D0}"/>
              </a:ext>
            </a:extLst>
          </p:cNvPr>
          <p:cNvPicPr>
            <a:picLocks noChangeAspect="1"/>
          </p:cNvPicPr>
          <p:nvPr/>
        </p:nvPicPr>
        <p:blipFill>
          <a:blip r:embed="rId4"/>
          <a:stretch>
            <a:fillRect/>
          </a:stretch>
        </p:blipFill>
        <p:spPr>
          <a:xfrm>
            <a:off x="-77001" y="11097"/>
            <a:ext cx="1280160" cy="7204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4D9D0"/>
          </a:solidFill>
          <a:ln w="12700">
            <a:solidFill>
              <a:srgbClr val="6E2F1A"/>
            </a:solidFill>
            <a:prstDash val="solid"/>
          </a:ln>
        </p:spPr>
        <p:txBody>
          <a:bodyPr/>
          <a:lstStyle/>
          <a:p>
            <a:endParaRPr lang="en-IN"/>
          </a:p>
        </p:txBody>
      </p:sp>
      <p:sp>
        <p:nvSpPr>
          <p:cNvPr id="3" name="Text 1"/>
          <p:cNvSpPr/>
          <p:nvPr/>
        </p:nvSpPr>
        <p:spPr>
          <a:xfrm>
            <a:off x="365760" y="0"/>
            <a:ext cx="8412480" cy="685800"/>
          </a:xfrm>
          <a:prstGeom prst="rect">
            <a:avLst/>
          </a:prstGeom>
          <a:noFill/>
          <a:ln/>
        </p:spPr>
        <p:txBody>
          <a:bodyPr wrap="square" rtlCol="0" anchor="ctr"/>
          <a:lstStyle/>
          <a:p>
            <a:pPr marL="0" indent="0" algn="ctr">
              <a:buNone/>
            </a:pPr>
            <a:r>
              <a:rPr lang="en-US" sz="2100" b="1" dirty="0">
                <a:latin typeface="Calibri" pitchFamily="34" charset="0"/>
                <a:ea typeface="Calibri" pitchFamily="34" charset="-122"/>
                <a:cs typeface="Calibri" pitchFamily="34" charset="-120"/>
              </a:rPr>
              <a:t> Real-Time Emotion Recognition: Hardware &amp; System</a:t>
            </a:r>
            <a:endParaRPr lang="en-US" sz="2100" dirty="0"/>
          </a:p>
        </p:txBody>
      </p:sp>
      <p:sp>
        <p:nvSpPr>
          <p:cNvPr id="4" name="Shape 2"/>
          <p:cNvSpPr/>
          <p:nvPr/>
        </p:nvSpPr>
        <p:spPr>
          <a:xfrm>
            <a:off x="274320" y="822960"/>
            <a:ext cx="3840480" cy="39776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5" name="Shape 3"/>
          <p:cNvSpPr/>
          <p:nvPr/>
        </p:nvSpPr>
        <p:spPr>
          <a:xfrm>
            <a:off x="274320" y="822960"/>
            <a:ext cx="3840480" cy="384048"/>
          </a:xfrm>
          <a:prstGeom prst="rect">
            <a:avLst/>
          </a:prstGeom>
          <a:solidFill>
            <a:srgbClr val="6E2F1A"/>
          </a:solidFill>
          <a:ln w="12700">
            <a:solidFill>
              <a:srgbClr val="6E2F1A"/>
            </a:solidFill>
            <a:prstDash val="solid"/>
          </a:ln>
        </p:spPr>
        <p:txBody>
          <a:bodyPr/>
          <a:lstStyle/>
          <a:p>
            <a:endParaRPr lang="en-IN"/>
          </a:p>
        </p:txBody>
      </p:sp>
      <p:sp>
        <p:nvSpPr>
          <p:cNvPr id="6" name="Text 4"/>
          <p:cNvSpPr/>
          <p:nvPr/>
        </p:nvSpPr>
        <p:spPr>
          <a:xfrm>
            <a:off x="274320" y="822960"/>
            <a:ext cx="384048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Raspberry Pi Hardware Stack</a:t>
            </a:r>
            <a:endParaRPr lang="en-US" sz="1400" dirty="0"/>
          </a:p>
        </p:txBody>
      </p:sp>
      <p:sp>
        <p:nvSpPr>
          <p:cNvPr id="7" name="Shape 5"/>
          <p:cNvSpPr/>
          <p:nvPr/>
        </p:nvSpPr>
        <p:spPr>
          <a:xfrm>
            <a:off x="411480" y="1325880"/>
            <a:ext cx="109728" cy="548640"/>
          </a:xfrm>
          <a:prstGeom prst="rect">
            <a:avLst/>
          </a:prstGeom>
          <a:solidFill>
            <a:srgbClr val="E74C3C"/>
          </a:solidFill>
          <a:ln w="12700">
            <a:solidFill>
              <a:srgbClr val="E74C3C"/>
            </a:solidFill>
            <a:prstDash val="solid"/>
          </a:ln>
        </p:spPr>
        <p:txBody>
          <a:bodyPr/>
          <a:lstStyle/>
          <a:p>
            <a:endParaRPr lang="en-IN"/>
          </a:p>
        </p:txBody>
      </p:sp>
      <p:sp>
        <p:nvSpPr>
          <p:cNvPr id="8" name="Text 6"/>
          <p:cNvSpPr/>
          <p:nvPr/>
        </p:nvSpPr>
        <p:spPr>
          <a:xfrm>
            <a:off x="594360" y="1325880"/>
            <a:ext cx="3383280" cy="658368"/>
          </a:xfrm>
          <a:prstGeom prst="rect">
            <a:avLst/>
          </a:prstGeom>
          <a:noFill/>
          <a:ln/>
        </p:spPr>
        <p:txBody>
          <a:bodyPr wrap="square" rtlCol="0" anchor="ctr"/>
          <a:lstStyle/>
          <a:p>
            <a:pPr marL="0" indent="0">
              <a:buNone/>
            </a:pPr>
            <a:r>
              <a:rPr lang="en-US" sz="1300" b="1" dirty="0">
                <a:solidFill>
                  <a:srgbClr val="6E2F1A"/>
                </a:solidFill>
                <a:latin typeface="Calibri" pitchFamily="34" charset="0"/>
                <a:ea typeface="Calibri" pitchFamily="34" charset="-122"/>
                <a:cs typeface="Calibri" pitchFamily="34" charset="-120"/>
              </a:rPr>
              <a:t>MAX30102
</a:t>
            </a:r>
            <a:r>
              <a:rPr lang="en-US" sz="1200" dirty="0">
                <a:solidFill>
                  <a:srgbClr val="334155"/>
                </a:solidFill>
                <a:latin typeface="Calibri" pitchFamily="34" charset="0"/>
                <a:ea typeface="Calibri" pitchFamily="34" charset="-122"/>
                <a:cs typeface="Calibri" pitchFamily="34" charset="-120"/>
              </a:rPr>
              <a:t>Heart Rate (HR)
</a:t>
            </a:r>
            <a:r>
              <a:rPr lang="en-US" sz="1100" i="1" dirty="0">
                <a:solidFill>
                  <a:srgbClr val="64748B"/>
                </a:solidFill>
                <a:latin typeface="Calibri" pitchFamily="34" charset="0"/>
                <a:ea typeface="Calibri" pitchFamily="34" charset="-122"/>
                <a:cs typeface="Calibri" pitchFamily="34" charset="-120"/>
              </a:rPr>
              <a:t>Protocol: I²C</a:t>
            </a:r>
            <a:endParaRPr lang="en-US" sz="1300" dirty="0"/>
          </a:p>
        </p:txBody>
      </p:sp>
      <p:sp>
        <p:nvSpPr>
          <p:cNvPr id="9" name="Shape 7"/>
          <p:cNvSpPr/>
          <p:nvPr/>
        </p:nvSpPr>
        <p:spPr>
          <a:xfrm>
            <a:off x="411480" y="2075688"/>
            <a:ext cx="109728" cy="548640"/>
          </a:xfrm>
          <a:prstGeom prst="rect">
            <a:avLst/>
          </a:prstGeom>
          <a:solidFill>
            <a:srgbClr val="9B59B6"/>
          </a:solidFill>
          <a:ln w="12700">
            <a:solidFill>
              <a:srgbClr val="9B59B6"/>
            </a:solidFill>
            <a:prstDash val="solid"/>
          </a:ln>
        </p:spPr>
        <p:txBody>
          <a:bodyPr/>
          <a:lstStyle/>
          <a:p>
            <a:endParaRPr lang="en-IN"/>
          </a:p>
        </p:txBody>
      </p:sp>
      <p:sp>
        <p:nvSpPr>
          <p:cNvPr id="10" name="Text 8"/>
          <p:cNvSpPr/>
          <p:nvPr/>
        </p:nvSpPr>
        <p:spPr>
          <a:xfrm>
            <a:off x="594360" y="2075688"/>
            <a:ext cx="3383280" cy="658368"/>
          </a:xfrm>
          <a:prstGeom prst="rect">
            <a:avLst/>
          </a:prstGeom>
          <a:noFill/>
          <a:ln/>
        </p:spPr>
        <p:txBody>
          <a:bodyPr wrap="square" rtlCol="0" anchor="ctr"/>
          <a:lstStyle/>
          <a:p>
            <a:pPr marL="0" indent="0">
              <a:buNone/>
            </a:pPr>
            <a:r>
              <a:rPr lang="en-US" sz="1300" b="1" dirty="0">
                <a:solidFill>
                  <a:srgbClr val="6E2F1A"/>
                </a:solidFill>
                <a:latin typeface="Calibri" pitchFamily="34" charset="0"/>
                <a:ea typeface="Calibri" pitchFamily="34" charset="-122"/>
                <a:cs typeface="Calibri" pitchFamily="34" charset="-120"/>
              </a:rPr>
              <a:t>GSR + ADS1115
</a:t>
            </a:r>
            <a:r>
              <a:rPr lang="en-US" sz="1200" dirty="0">
                <a:solidFill>
                  <a:srgbClr val="334155"/>
                </a:solidFill>
                <a:latin typeface="Calibri" pitchFamily="34" charset="0"/>
                <a:ea typeface="Calibri" pitchFamily="34" charset="-122"/>
                <a:cs typeface="Calibri" pitchFamily="34" charset="-120"/>
              </a:rPr>
              <a:t>Electrodermal Activity (EDA)
</a:t>
            </a:r>
            <a:r>
              <a:rPr lang="en-US" sz="1100" i="1" dirty="0">
                <a:solidFill>
                  <a:srgbClr val="64748B"/>
                </a:solidFill>
                <a:latin typeface="Calibri" pitchFamily="34" charset="0"/>
                <a:ea typeface="Calibri" pitchFamily="34" charset="-122"/>
                <a:cs typeface="Calibri" pitchFamily="34" charset="-120"/>
              </a:rPr>
              <a:t>Protocol: I²C</a:t>
            </a:r>
            <a:endParaRPr lang="en-US" sz="1300" dirty="0"/>
          </a:p>
        </p:txBody>
      </p:sp>
      <p:sp>
        <p:nvSpPr>
          <p:cNvPr id="11" name="Shape 9"/>
          <p:cNvSpPr/>
          <p:nvPr/>
        </p:nvSpPr>
        <p:spPr>
          <a:xfrm>
            <a:off x="411480" y="2825496"/>
            <a:ext cx="109728" cy="548640"/>
          </a:xfrm>
          <a:prstGeom prst="rect">
            <a:avLst/>
          </a:prstGeom>
          <a:solidFill>
            <a:srgbClr val="2980B9"/>
          </a:solidFill>
          <a:ln w="12700">
            <a:solidFill>
              <a:srgbClr val="2980B9"/>
            </a:solidFill>
            <a:prstDash val="solid"/>
          </a:ln>
        </p:spPr>
        <p:txBody>
          <a:bodyPr/>
          <a:lstStyle/>
          <a:p>
            <a:endParaRPr lang="en-IN"/>
          </a:p>
        </p:txBody>
      </p:sp>
      <p:sp>
        <p:nvSpPr>
          <p:cNvPr id="12" name="Text 10"/>
          <p:cNvSpPr/>
          <p:nvPr/>
        </p:nvSpPr>
        <p:spPr>
          <a:xfrm>
            <a:off x="594360" y="2825496"/>
            <a:ext cx="3383280" cy="658368"/>
          </a:xfrm>
          <a:prstGeom prst="rect">
            <a:avLst/>
          </a:prstGeom>
          <a:noFill/>
          <a:ln/>
        </p:spPr>
        <p:txBody>
          <a:bodyPr wrap="square" rtlCol="0" anchor="ctr"/>
          <a:lstStyle/>
          <a:p>
            <a:pPr marL="0" indent="0">
              <a:buNone/>
            </a:pPr>
            <a:r>
              <a:rPr lang="en-US" sz="1300" b="1" dirty="0">
                <a:solidFill>
                  <a:srgbClr val="6E2F1A"/>
                </a:solidFill>
                <a:latin typeface="Calibri" pitchFamily="34" charset="0"/>
                <a:ea typeface="Calibri" pitchFamily="34" charset="-122"/>
                <a:cs typeface="Calibri" pitchFamily="34" charset="-120"/>
              </a:rPr>
              <a:t>ADXL345
</a:t>
            </a:r>
            <a:r>
              <a:rPr lang="en-US" sz="1200" dirty="0">
                <a:solidFill>
                  <a:srgbClr val="334155"/>
                </a:solidFill>
                <a:latin typeface="Calibri" pitchFamily="34" charset="0"/>
                <a:ea typeface="Calibri" pitchFamily="34" charset="-122"/>
                <a:cs typeface="Calibri" pitchFamily="34" charset="-120"/>
              </a:rPr>
              <a:t>3-Axis Acceleration (X,Y,Z)
</a:t>
            </a:r>
            <a:r>
              <a:rPr lang="en-US" sz="1100" i="1" dirty="0">
                <a:solidFill>
                  <a:srgbClr val="64748B"/>
                </a:solidFill>
                <a:latin typeface="Calibri" pitchFamily="34" charset="0"/>
                <a:ea typeface="Calibri" pitchFamily="34" charset="-122"/>
                <a:cs typeface="Calibri" pitchFamily="34" charset="-120"/>
              </a:rPr>
              <a:t>Protocol: I²C</a:t>
            </a:r>
            <a:endParaRPr lang="en-US" sz="1300" dirty="0"/>
          </a:p>
        </p:txBody>
      </p:sp>
      <p:sp>
        <p:nvSpPr>
          <p:cNvPr id="13" name="Shape 11"/>
          <p:cNvSpPr/>
          <p:nvPr/>
        </p:nvSpPr>
        <p:spPr>
          <a:xfrm>
            <a:off x="411480" y="3575304"/>
            <a:ext cx="109728" cy="548640"/>
          </a:xfrm>
          <a:prstGeom prst="rect">
            <a:avLst/>
          </a:prstGeom>
          <a:solidFill>
            <a:srgbClr val="27AE60"/>
          </a:solidFill>
          <a:ln w="12700">
            <a:solidFill>
              <a:srgbClr val="27AE60"/>
            </a:solidFill>
            <a:prstDash val="solid"/>
          </a:ln>
        </p:spPr>
        <p:txBody>
          <a:bodyPr/>
          <a:lstStyle/>
          <a:p>
            <a:endParaRPr lang="en-IN"/>
          </a:p>
        </p:txBody>
      </p:sp>
      <p:sp>
        <p:nvSpPr>
          <p:cNvPr id="14" name="Text 12"/>
          <p:cNvSpPr/>
          <p:nvPr/>
        </p:nvSpPr>
        <p:spPr>
          <a:xfrm>
            <a:off x="594360" y="3575304"/>
            <a:ext cx="3383280" cy="658368"/>
          </a:xfrm>
          <a:prstGeom prst="rect">
            <a:avLst/>
          </a:prstGeom>
          <a:noFill/>
          <a:ln/>
        </p:spPr>
        <p:txBody>
          <a:bodyPr wrap="square" rtlCol="0" anchor="ctr"/>
          <a:lstStyle/>
          <a:p>
            <a:pPr marL="0" indent="0">
              <a:buNone/>
            </a:pPr>
            <a:r>
              <a:rPr lang="en-US" sz="1300" b="1" dirty="0">
                <a:solidFill>
                  <a:srgbClr val="6E2F1A"/>
                </a:solidFill>
                <a:latin typeface="Calibri" pitchFamily="34" charset="0"/>
                <a:ea typeface="Calibri" pitchFamily="34" charset="-122"/>
                <a:cs typeface="Calibri" pitchFamily="34" charset="-120"/>
              </a:rPr>
              <a:t>DS18B20
</a:t>
            </a:r>
            <a:r>
              <a:rPr lang="en-US" sz="1200" dirty="0">
                <a:solidFill>
                  <a:srgbClr val="334155"/>
                </a:solidFill>
                <a:latin typeface="Calibri" pitchFamily="34" charset="0"/>
                <a:ea typeface="Calibri" pitchFamily="34" charset="-122"/>
                <a:cs typeface="Calibri" pitchFamily="34" charset="-120"/>
              </a:rPr>
              <a:t>Body Temperature
</a:t>
            </a:r>
            <a:r>
              <a:rPr lang="en-US" sz="1100" i="1" dirty="0">
                <a:solidFill>
                  <a:srgbClr val="64748B"/>
                </a:solidFill>
                <a:latin typeface="Calibri" pitchFamily="34" charset="0"/>
                <a:ea typeface="Calibri" pitchFamily="34" charset="-122"/>
                <a:cs typeface="Calibri" pitchFamily="34" charset="-120"/>
              </a:rPr>
              <a:t>Protocol: 1-Wire</a:t>
            </a:r>
            <a:endParaRPr lang="en-US" sz="1300" dirty="0"/>
          </a:p>
        </p:txBody>
      </p:sp>
      <p:sp>
        <p:nvSpPr>
          <p:cNvPr id="15" name="Shape 13"/>
          <p:cNvSpPr/>
          <p:nvPr/>
        </p:nvSpPr>
        <p:spPr>
          <a:xfrm>
            <a:off x="4389120" y="822960"/>
            <a:ext cx="4480560" cy="39776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16" name="Shape 14"/>
          <p:cNvSpPr/>
          <p:nvPr/>
        </p:nvSpPr>
        <p:spPr>
          <a:xfrm>
            <a:off x="4389120" y="822960"/>
            <a:ext cx="4480560" cy="384048"/>
          </a:xfrm>
          <a:prstGeom prst="rect">
            <a:avLst/>
          </a:prstGeom>
          <a:solidFill>
            <a:srgbClr val="6E2F1A"/>
          </a:solidFill>
          <a:ln w="12700">
            <a:solidFill>
              <a:srgbClr val="6E2F1A"/>
            </a:solidFill>
            <a:prstDash val="solid"/>
          </a:ln>
        </p:spPr>
        <p:txBody>
          <a:bodyPr/>
          <a:lstStyle/>
          <a:p>
            <a:endParaRPr lang="en-IN"/>
          </a:p>
        </p:txBody>
      </p:sp>
      <p:sp>
        <p:nvSpPr>
          <p:cNvPr id="17" name="Text 15"/>
          <p:cNvSpPr/>
          <p:nvPr/>
        </p:nvSpPr>
        <p:spPr>
          <a:xfrm>
            <a:off x="4389120" y="822960"/>
            <a:ext cx="4480560"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System Workflow</a:t>
            </a:r>
            <a:endParaRPr lang="en-US" sz="1400" dirty="0"/>
          </a:p>
        </p:txBody>
      </p:sp>
      <p:sp>
        <p:nvSpPr>
          <p:cNvPr id="18" name="Shape 16"/>
          <p:cNvSpPr/>
          <p:nvPr/>
        </p:nvSpPr>
        <p:spPr>
          <a:xfrm>
            <a:off x="4526280" y="1371600"/>
            <a:ext cx="365760" cy="365760"/>
          </a:xfrm>
          <a:prstGeom prst="ellipse">
            <a:avLst/>
          </a:prstGeom>
          <a:solidFill>
            <a:srgbClr val="6E2F1A"/>
          </a:solidFill>
          <a:ln w="12700">
            <a:solidFill>
              <a:srgbClr val="6E2F1A"/>
            </a:solidFill>
            <a:prstDash val="solid"/>
          </a:ln>
        </p:spPr>
        <p:txBody>
          <a:bodyPr/>
          <a:lstStyle/>
          <a:p>
            <a:endParaRPr lang="en-IN"/>
          </a:p>
        </p:txBody>
      </p:sp>
      <p:sp>
        <p:nvSpPr>
          <p:cNvPr id="19" name="Text 17"/>
          <p:cNvSpPr/>
          <p:nvPr/>
        </p:nvSpPr>
        <p:spPr>
          <a:xfrm>
            <a:off x="4526280" y="1371600"/>
            <a:ext cx="365760" cy="365760"/>
          </a:xfrm>
          <a:prstGeom prst="rect">
            <a:avLst/>
          </a:prstGeom>
          <a:noFill/>
          <a:ln/>
        </p:spPr>
        <p:txBody>
          <a:bodyPr wrap="square" rtlCol="0" anchor="ctr"/>
          <a:lstStyle/>
          <a:p>
            <a:pPr marL="0" indent="0" algn="ctr">
              <a:buNone/>
            </a:pPr>
            <a:r>
              <a:rPr lang="en-US" sz="1200" b="1" dirty="0">
                <a:solidFill>
                  <a:srgbClr val="FFFFFF"/>
                </a:solidFill>
              </a:rPr>
              <a:t>1</a:t>
            </a:r>
            <a:endParaRPr lang="en-US" sz="1200" dirty="0"/>
          </a:p>
        </p:txBody>
      </p:sp>
      <p:sp>
        <p:nvSpPr>
          <p:cNvPr id="20" name="Text 18"/>
          <p:cNvSpPr/>
          <p:nvPr/>
        </p:nvSpPr>
        <p:spPr>
          <a:xfrm>
            <a:off x="4965192" y="1325880"/>
            <a:ext cx="3794760" cy="5029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8-second continuous physiological scan</a:t>
            </a:r>
            <a:endParaRPr lang="en-US" sz="1200" dirty="0"/>
          </a:p>
        </p:txBody>
      </p:sp>
      <p:sp>
        <p:nvSpPr>
          <p:cNvPr id="21" name="Shape 19"/>
          <p:cNvSpPr/>
          <p:nvPr/>
        </p:nvSpPr>
        <p:spPr>
          <a:xfrm>
            <a:off x="4526280" y="1920240"/>
            <a:ext cx="365760" cy="365760"/>
          </a:xfrm>
          <a:prstGeom prst="ellipse">
            <a:avLst/>
          </a:prstGeom>
          <a:solidFill>
            <a:srgbClr val="6E2F1A"/>
          </a:solidFill>
          <a:ln w="12700">
            <a:solidFill>
              <a:srgbClr val="6E2F1A"/>
            </a:solidFill>
            <a:prstDash val="solid"/>
          </a:ln>
        </p:spPr>
        <p:txBody>
          <a:bodyPr/>
          <a:lstStyle/>
          <a:p>
            <a:endParaRPr lang="en-IN"/>
          </a:p>
        </p:txBody>
      </p:sp>
      <p:sp>
        <p:nvSpPr>
          <p:cNvPr id="22" name="Text 20"/>
          <p:cNvSpPr/>
          <p:nvPr/>
        </p:nvSpPr>
        <p:spPr>
          <a:xfrm>
            <a:off x="4526280" y="1920240"/>
            <a:ext cx="365760" cy="365760"/>
          </a:xfrm>
          <a:prstGeom prst="rect">
            <a:avLst/>
          </a:prstGeom>
          <a:noFill/>
          <a:ln/>
        </p:spPr>
        <p:txBody>
          <a:bodyPr wrap="square" rtlCol="0" anchor="ctr"/>
          <a:lstStyle/>
          <a:p>
            <a:pPr marL="0" indent="0" algn="ctr">
              <a:buNone/>
            </a:pPr>
            <a:r>
              <a:rPr lang="en-US" sz="1200" b="1" dirty="0">
                <a:solidFill>
                  <a:srgbClr val="FFFFFF"/>
                </a:solidFill>
              </a:rPr>
              <a:t>2</a:t>
            </a:r>
            <a:endParaRPr lang="en-US" sz="1200" dirty="0"/>
          </a:p>
        </p:txBody>
      </p:sp>
      <p:sp>
        <p:nvSpPr>
          <p:cNvPr id="23" name="Text 21"/>
          <p:cNvSpPr/>
          <p:nvPr/>
        </p:nvSpPr>
        <p:spPr>
          <a:xfrm>
            <a:off x="4965192" y="1874520"/>
            <a:ext cx="3794760" cy="5029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HR smoothing + ACC normalization + HRV derivation</a:t>
            </a:r>
            <a:endParaRPr lang="en-US" sz="1200" dirty="0"/>
          </a:p>
        </p:txBody>
      </p:sp>
      <p:sp>
        <p:nvSpPr>
          <p:cNvPr id="24" name="Shape 22"/>
          <p:cNvSpPr/>
          <p:nvPr/>
        </p:nvSpPr>
        <p:spPr>
          <a:xfrm>
            <a:off x="4526280" y="2468880"/>
            <a:ext cx="365760" cy="365760"/>
          </a:xfrm>
          <a:prstGeom prst="ellipse">
            <a:avLst/>
          </a:prstGeom>
          <a:solidFill>
            <a:srgbClr val="6E2F1A"/>
          </a:solidFill>
          <a:ln w="12700">
            <a:solidFill>
              <a:srgbClr val="6E2F1A"/>
            </a:solidFill>
            <a:prstDash val="solid"/>
          </a:ln>
        </p:spPr>
        <p:txBody>
          <a:bodyPr/>
          <a:lstStyle/>
          <a:p>
            <a:endParaRPr lang="en-IN"/>
          </a:p>
        </p:txBody>
      </p:sp>
      <p:sp>
        <p:nvSpPr>
          <p:cNvPr id="25" name="Text 23"/>
          <p:cNvSpPr/>
          <p:nvPr/>
        </p:nvSpPr>
        <p:spPr>
          <a:xfrm>
            <a:off x="4526280" y="2468880"/>
            <a:ext cx="365760" cy="365760"/>
          </a:xfrm>
          <a:prstGeom prst="rect">
            <a:avLst/>
          </a:prstGeom>
          <a:noFill/>
          <a:ln/>
        </p:spPr>
        <p:txBody>
          <a:bodyPr wrap="square" rtlCol="0" anchor="ctr"/>
          <a:lstStyle/>
          <a:p>
            <a:pPr marL="0" indent="0" algn="ctr">
              <a:buNone/>
            </a:pPr>
            <a:r>
              <a:rPr lang="en-US" sz="1200" b="1" dirty="0">
                <a:solidFill>
                  <a:srgbClr val="FFFFFF"/>
                </a:solidFill>
              </a:rPr>
              <a:t>3</a:t>
            </a:r>
            <a:endParaRPr lang="en-US" sz="1200" dirty="0"/>
          </a:p>
        </p:txBody>
      </p:sp>
      <p:sp>
        <p:nvSpPr>
          <p:cNvPr id="26" name="Text 24"/>
          <p:cNvSpPr/>
          <p:nvPr/>
        </p:nvSpPr>
        <p:spPr>
          <a:xfrm>
            <a:off x="4965192" y="2423160"/>
            <a:ext cx="3794760" cy="5029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Feature vector: [HR, HRV, EDA, TEMP, ACCx, ACCy, ACCz]</a:t>
            </a:r>
            <a:endParaRPr lang="en-US" sz="1200" dirty="0"/>
          </a:p>
        </p:txBody>
      </p:sp>
      <p:sp>
        <p:nvSpPr>
          <p:cNvPr id="27" name="Shape 25"/>
          <p:cNvSpPr/>
          <p:nvPr/>
        </p:nvSpPr>
        <p:spPr>
          <a:xfrm>
            <a:off x="4526280" y="3017520"/>
            <a:ext cx="365760" cy="365760"/>
          </a:xfrm>
          <a:prstGeom prst="ellipse">
            <a:avLst/>
          </a:prstGeom>
          <a:solidFill>
            <a:srgbClr val="6E2F1A"/>
          </a:solidFill>
          <a:ln w="12700">
            <a:solidFill>
              <a:srgbClr val="6E2F1A"/>
            </a:solidFill>
            <a:prstDash val="solid"/>
          </a:ln>
        </p:spPr>
        <p:txBody>
          <a:bodyPr/>
          <a:lstStyle/>
          <a:p>
            <a:endParaRPr lang="en-IN"/>
          </a:p>
        </p:txBody>
      </p:sp>
      <p:sp>
        <p:nvSpPr>
          <p:cNvPr id="28" name="Text 26"/>
          <p:cNvSpPr/>
          <p:nvPr/>
        </p:nvSpPr>
        <p:spPr>
          <a:xfrm>
            <a:off x="4526280" y="3017520"/>
            <a:ext cx="365760" cy="365760"/>
          </a:xfrm>
          <a:prstGeom prst="rect">
            <a:avLst/>
          </a:prstGeom>
          <a:noFill/>
          <a:ln/>
        </p:spPr>
        <p:txBody>
          <a:bodyPr wrap="square" rtlCol="0" anchor="ctr"/>
          <a:lstStyle/>
          <a:p>
            <a:pPr marL="0" indent="0" algn="ctr">
              <a:buNone/>
            </a:pPr>
            <a:r>
              <a:rPr lang="en-US" sz="1200" b="1" dirty="0">
                <a:solidFill>
                  <a:srgbClr val="FFFFFF"/>
                </a:solidFill>
              </a:rPr>
              <a:t>4</a:t>
            </a:r>
            <a:endParaRPr lang="en-US" sz="1200" dirty="0"/>
          </a:p>
        </p:txBody>
      </p:sp>
      <p:sp>
        <p:nvSpPr>
          <p:cNvPr id="29" name="Text 27"/>
          <p:cNvSpPr/>
          <p:nvPr/>
        </p:nvSpPr>
        <p:spPr>
          <a:xfrm>
            <a:off x="4965192" y="2971800"/>
            <a:ext cx="3794760" cy="5029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Random Forest → Emotion class (Calm / Happy / Stress / Sad / Fear)</a:t>
            </a:r>
            <a:endParaRPr lang="en-US" sz="1200" dirty="0"/>
          </a:p>
        </p:txBody>
      </p:sp>
      <p:sp>
        <p:nvSpPr>
          <p:cNvPr id="30" name="Shape 28"/>
          <p:cNvSpPr/>
          <p:nvPr/>
        </p:nvSpPr>
        <p:spPr>
          <a:xfrm>
            <a:off x="4526280" y="3566160"/>
            <a:ext cx="365760" cy="365760"/>
          </a:xfrm>
          <a:prstGeom prst="ellipse">
            <a:avLst/>
          </a:prstGeom>
          <a:solidFill>
            <a:srgbClr val="6E2F1A"/>
          </a:solidFill>
          <a:ln w="12700">
            <a:solidFill>
              <a:srgbClr val="6E2F1A"/>
            </a:solidFill>
            <a:prstDash val="solid"/>
          </a:ln>
        </p:spPr>
        <p:txBody>
          <a:bodyPr/>
          <a:lstStyle/>
          <a:p>
            <a:endParaRPr lang="en-IN"/>
          </a:p>
        </p:txBody>
      </p:sp>
      <p:sp>
        <p:nvSpPr>
          <p:cNvPr id="31" name="Text 29"/>
          <p:cNvSpPr/>
          <p:nvPr/>
        </p:nvSpPr>
        <p:spPr>
          <a:xfrm>
            <a:off x="4526280" y="3566160"/>
            <a:ext cx="365760" cy="365760"/>
          </a:xfrm>
          <a:prstGeom prst="rect">
            <a:avLst/>
          </a:prstGeom>
          <a:noFill/>
          <a:ln/>
        </p:spPr>
        <p:txBody>
          <a:bodyPr wrap="square" rtlCol="0" anchor="ctr"/>
          <a:lstStyle/>
          <a:p>
            <a:pPr marL="0" indent="0" algn="ctr">
              <a:buNone/>
            </a:pPr>
            <a:r>
              <a:rPr lang="en-US" sz="1200" b="1" dirty="0">
                <a:solidFill>
                  <a:srgbClr val="FFFFFF"/>
                </a:solidFill>
              </a:rPr>
              <a:t>5</a:t>
            </a:r>
            <a:endParaRPr lang="en-US" sz="1200" dirty="0"/>
          </a:p>
        </p:txBody>
      </p:sp>
      <p:sp>
        <p:nvSpPr>
          <p:cNvPr id="32" name="Text 30"/>
          <p:cNvSpPr/>
          <p:nvPr/>
        </p:nvSpPr>
        <p:spPr>
          <a:xfrm>
            <a:off x="4965192" y="3520440"/>
            <a:ext cx="3794760" cy="5029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Emotional Index (Valence, Arousal, Engagement)</a:t>
            </a:r>
            <a:endParaRPr lang="en-US" sz="1200" dirty="0"/>
          </a:p>
        </p:txBody>
      </p:sp>
      <p:sp>
        <p:nvSpPr>
          <p:cNvPr id="33" name="Shape 31"/>
          <p:cNvSpPr/>
          <p:nvPr/>
        </p:nvSpPr>
        <p:spPr>
          <a:xfrm>
            <a:off x="4526280" y="4114800"/>
            <a:ext cx="365760" cy="365760"/>
          </a:xfrm>
          <a:prstGeom prst="ellipse">
            <a:avLst/>
          </a:prstGeom>
          <a:solidFill>
            <a:srgbClr val="6E2F1A"/>
          </a:solidFill>
          <a:ln w="12700">
            <a:solidFill>
              <a:srgbClr val="6E2F1A"/>
            </a:solidFill>
            <a:prstDash val="solid"/>
          </a:ln>
        </p:spPr>
        <p:txBody>
          <a:bodyPr/>
          <a:lstStyle/>
          <a:p>
            <a:endParaRPr lang="en-IN"/>
          </a:p>
        </p:txBody>
      </p:sp>
      <p:sp>
        <p:nvSpPr>
          <p:cNvPr id="34" name="Text 32"/>
          <p:cNvSpPr/>
          <p:nvPr/>
        </p:nvSpPr>
        <p:spPr>
          <a:xfrm>
            <a:off x="4526280" y="4114800"/>
            <a:ext cx="365760" cy="365760"/>
          </a:xfrm>
          <a:prstGeom prst="rect">
            <a:avLst/>
          </a:prstGeom>
          <a:noFill/>
          <a:ln/>
        </p:spPr>
        <p:txBody>
          <a:bodyPr wrap="square" rtlCol="0" anchor="ctr"/>
          <a:lstStyle/>
          <a:p>
            <a:pPr marL="0" indent="0" algn="ctr">
              <a:buNone/>
            </a:pPr>
            <a:r>
              <a:rPr lang="en-US" sz="1200" b="1" dirty="0">
                <a:solidFill>
                  <a:srgbClr val="FFFFFF"/>
                </a:solidFill>
              </a:rPr>
              <a:t>6</a:t>
            </a:r>
            <a:endParaRPr lang="en-US" sz="1200" dirty="0"/>
          </a:p>
        </p:txBody>
      </p:sp>
      <p:sp>
        <p:nvSpPr>
          <p:cNvPr id="35" name="Text 33"/>
          <p:cNvSpPr/>
          <p:nvPr/>
        </p:nvSpPr>
        <p:spPr>
          <a:xfrm>
            <a:off x="4965192" y="4069080"/>
            <a:ext cx="3794760" cy="502920"/>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Personalized recommendations (relaxation, activity, etc.)</a:t>
            </a:r>
            <a:endParaRPr lang="en-US" sz="1200" dirty="0"/>
          </a:p>
        </p:txBody>
      </p:sp>
      <p:pic>
        <p:nvPicPr>
          <p:cNvPr id="36" name="Picture 35">
            <a:extLst>
              <a:ext uri="{FF2B5EF4-FFF2-40B4-BE49-F238E27FC236}">
                <a16:creationId xmlns:a16="http://schemas.microsoft.com/office/drawing/2014/main" id="{62DCCC6F-DC7D-18EE-269A-4E0BE0C32960}"/>
              </a:ext>
            </a:extLst>
          </p:cNvPr>
          <p:cNvPicPr>
            <a:picLocks noChangeAspect="1"/>
          </p:cNvPicPr>
          <p:nvPr/>
        </p:nvPicPr>
        <p:blipFill>
          <a:blip r:embed="rId3"/>
          <a:stretch>
            <a:fillRect/>
          </a:stretch>
        </p:blipFill>
        <p:spPr>
          <a:xfrm>
            <a:off x="-77001" y="11097"/>
            <a:ext cx="1280160" cy="720423"/>
          </a:xfrm>
          <a:prstGeom prst="rect">
            <a:avLst/>
          </a:prstGeom>
        </p:spPr>
      </p:pic>
      <p:pic>
        <p:nvPicPr>
          <p:cNvPr id="37" name="Picture 36">
            <a:extLst>
              <a:ext uri="{FF2B5EF4-FFF2-40B4-BE49-F238E27FC236}">
                <a16:creationId xmlns:a16="http://schemas.microsoft.com/office/drawing/2014/main" id="{F63CFAB2-CAEC-4523-A2CE-BD0A037D1BCC}"/>
              </a:ext>
            </a:extLst>
          </p:cNvPr>
          <p:cNvPicPr>
            <a:picLocks noChangeAspect="1"/>
          </p:cNvPicPr>
          <p:nvPr/>
        </p:nvPicPr>
        <p:blipFill>
          <a:blip r:embed="rId4"/>
          <a:stretch>
            <a:fillRect/>
          </a:stretch>
        </p:blipFill>
        <p:spPr>
          <a:xfrm>
            <a:off x="8191940" y="0"/>
            <a:ext cx="898279" cy="73316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BB539854-DF9F-4D22-4E85-82D44373EE6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0952AB6-314A-2521-FAD1-E2D65B67637C}"/>
              </a:ext>
            </a:extLst>
          </p:cNvPr>
          <p:cNvSpPr/>
          <p:nvPr/>
        </p:nvSpPr>
        <p:spPr>
          <a:xfrm>
            <a:off x="0" y="0"/>
            <a:ext cx="9144000" cy="685800"/>
          </a:xfrm>
          <a:prstGeom prst="rect">
            <a:avLst/>
          </a:prstGeom>
          <a:solidFill>
            <a:srgbClr val="F4D9D0"/>
          </a:solidFill>
          <a:ln w="12700">
            <a:solidFill>
              <a:srgbClr val="6E2F1A"/>
            </a:solidFill>
            <a:prstDash val="solid"/>
          </a:ln>
        </p:spPr>
        <p:txBody>
          <a:bodyPr/>
          <a:lstStyle/>
          <a:p>
            <a:endParaRPr lang="en-IN"/>
          </a:p>
        </p:txBody>
      </p:sp>
      <p:sp>
        <p:nvSpPr>
          <p:cNvPr id="3" name="Text 1">
            <a:extLst>
              <a:ext uri="{FF2B5EF4-FFF2-40B4-BE49-F238E27FC236}">
                <a16:creationId xmlns:a16="http://schemas.microsoft.com/office/drawing/2014/main" id="{E6284937-C653-5140-3D6A-B62140755FE9}"/>
              </a:ext>
            </a:extLst>
          </p:cNvPr>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Emotion Recognition: System Architecture</a:t>
            </a:r>
            <a:endParaRPr lang="en-US" sz="2200" dirty="0"/>
          </a:p>
        </p:txBody>
      </p:sp>
      <p:pic>
        <p:nvPicPr>
          <p:cNvPr id="19" name="Picture 18">
            <a:extLst>
              <a:ext uri="{FF2B5EF4-FFF2-40B4-BE49-F238E27FC236}">
                <a16:creationId xmlns:a16="http://schemas.microsoft.com/office/drawing/2014/main" id="{226AF20B-6E57-F2D8-87E2-ED3831183B88}"/>
              </a:ext>
            </a:extLst>
          </p:cNvPr>
          <p:cNvPicPr>
            <a:picLocks noChangeAspect="1"/>
          </p:cNvPicPr>
          <p:nvPr/>
        </p:nvPicPr>
        <p:blipFill>
          <a:blip r:embed="rId3"/>
          <a:stretch>
            <a:fillRect/>
          </a:stretch>
        </p:blipFill>
        <p:spPr>
          <a:xfrm>
            <a:off x="8191940" y="0"/>
            <a:ext cx="898279" cy="733163"/>
          </a:xfrm>
          <a:prstGeom prst="rect">
            <a:avLst/>
          </a:prstGeom>
        </p:spPr>
      </p:pic>
      <p:pic>
        <p:nvPicPr>
          <p:cNvPr id="20" name="Picture 19">
            <a:extLst>
              <a:ext uri="{FF2B5EF4-FFF2-40B4-BE49-F238E27FC236}">
                <a16:creationId xmlns:a16="http://schemas.microsoft.com/office/drawing/2014/main" id="{A2747FF5-77DE-383A-727C-9F0867DBAFD7}"/>
              </a:ext>
            </a:extLst>
          </p:cNvPr>
          <p:cNvPicPr>
            <a:picLocks noChangeAspect="1"/>
          </p:cNvPicPr>
          <p:nvPr/>
        </p:nvPicPr>
        <p:blipFill>
          <a:blip r:embed="rId4"/>
          <a:stretch>
            <a:fillRect/>
          </a:stretch>
        </p:blipFill>
        <p:spPr>
          <a:xfrm>
            <a:off x="-77001" y="-13127"/>
            <a:ext cx="1280160" cy="720423"/>
          </a:xfrm>
          <a:prstGeom prst="rect">
            <a:avLst/>
          </a:prstGeom>
        </p:spPr>
      </p:pic>
      <p:pic>
        <p:nvPicPr>
          <p:cNvPr id="7" name="Graphic 6">
            <a:extLst>
              <a:ext uri="{FF2B5EF4-FFF2-40B4-BE49-F238E27FC236}">
                <a16:creationId xmlns:a16="http://schemas.microsoft.com/office/drawing/2014/main" id="{C9BB5847-10EC-4A4F-9A6E-87D8D2A9D85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234527" y="805398"/>
            <a:ext cx="4656779" cy="4244996"/>
          </a:xfrm>
          <a:prstGeom prst="rect">
            <a:avLst/>
          </a:prstGeom>
        </p:spPr>
      </p:pic>
    </p:spTree>
    <p:extLst>
      <p:ext uri="{BB962C8B-B14F-4D97-AF65-F5344CB8AC3E}">
        <p14:creationId xmlns:p14="http://schemas.microsoft.com/office/powerpoint/2010/main" val="26388468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6DFDA006-DFD7-E8FC-15A4-7E73776DDAD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AC9F535-BB85-E1DA-6E4A-E1009F902921}"/>
              </a:ext>
            </a:extLst>
          </p:cNvPr>
          <p:cNvSpPr/>
          <p:nvPr/>
        </p:nvSpPr>
        <p:spPr>
          <a:xfrm>
            <a:off x="0" y="0"/>
            <a:ext cx="9144000" cy="685800"/>
          </a:xfrm>
          <a:prstGeom prst="rect">
            <a:avLst/>
          </a:prstGeom>
          <a:solidFill>
            <a:srgbClr val="F4D9D0"/>
          </a:solidFill>
          <a:ln w="12700">
            <a:solidFill>
              <a:srgbClr val="6E2F1A"/>
            </a:solidFill>
            <a:prstDash val="solid"/>
          </a:ln>
        </p:spPr>
        <p:txBody>
          <a:bodyPr/>
          <a:lstStyle/>
          <a:p>
            <a:endParaRPr lang="en-IN"/>
          </a:p>
        </p:txBody>
      </p:sp>
      <p:sp>
        <p:nvSpPr>
          <p:cNvPr id="3" name="Text 1">
            <a:extLst>
              <a:ext uri="{FF2B5EF4-FFF2-40B4-BE49-F238E27FC236}">
                <a16:creationId xmlns:a16="http://schemas.microsoft.com/office/drawing/2014/main" id="{130FAEDA-E671-9018-A741-7E7E9458AA4A}"/>
              </a:ext>
            </a:extLst>
          </p:cNvPr>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Emotion Recognition: Hardware Design</a:t>
            </a:r>
            <a:endParaRPr lang="en-US" sz="2200" dirty="0"/>
          </a:p>
        </p:txBody>
      </p:sp>
      <p:pic>
        <p:nvPicPr>
          <p:cNvPr id="19" name="Picture 18">
            <a:extLst>
              <a:ext uri="{FF2B5EF4-FFF2-40B4-BE49-F238E27FC236}">
                <a16:creationId xmlns:a16="http://schemas.microsoft.com/office/drawing/2014/main" id="{27E4AAB1-0DD4-ED9D-4BF0-E412724BDE2A}"/>
              </a:ext>
            </a:extLst>
          </p:cNvPr>
          <p:cNvPicPr>
            <a:picLocks noChangeAspect="1"/>
          </p:cNvPicPr>
          <p:nvPr/>
        </p:nvPicPr>
        <p:blipFill>
          <a:blip r:embed="rId3"/>
          <a:stretch>
            <a:fillRect/>
          </a:stretch>
        </p:blipFill>
        <p:spPr>
          <a:xfrm>
            <a:off x="8191940" y="0"/>
            <a:ext cx="898279" cy="733163"/>
          </a:xfrm>
          <a:prstGeom prst="rect">
            <a:avLst/>
          </a:prstGeom>
        </p:spPr>
      </p:pic>
      <p:pic>
        <p:nvPicPr>
          <p:cNvPr id="20" name="Picture 19">
            <a:extLst>
              <a:ext uri="{FF2B5EF4-FFF2-40B4-BE49-F238E27FC236}">
                <a16:creationId xmlns:a16="http://schemas.microsoft.com/office/drawing/2014/main" id="{49825588-64EF-73CC-7112-36F9C08C8E40}"/>
              </a:ext>
            </a:extLst>
          </p:cNvPr>
          <p:cNvPicPr>
            <a:picLocks noChangeAspect="1"/>
          </p:cNvPicPr>
          <p:nvPr/>
        </p:nvPicPr>
        <p:blipFill>
          <a:blip r:embed="rId4"/>
          <a:stretch>
            <a:fillRect/>
          </a:stretch>
        </p:blipFill>
        <p:spPr>
          <a:xfrm>
            <a:off x="-77001" y="11097"/>
            <a:ext cx="1280160" cy="720423"/>
          </a:xfrm>
          <a:prstGeom prst="rect">
            <a:avLst/>
          </a:prstGeom>
        </p:spPr>
      </p:pic>
      <p:pic>
        <p:nvPicPr>
          <p:cNvPr id="5" name="Picture 4">
            <a:extLst>
              <a:ext uri="{FF2B5EF4-FFF2-40B4-BE49-F238E27FC236}">
                <a16:creationId xmlns:a16="http://schemas.microsoft.com/office/drawing/2014/main" id="{08FF1B73-3A4C-59E5-198C-F959180570CF}"/>
              </a:ext>
            </a:extLst>
          </p:cNvPr>
          <p:cNvPicPr>
            <a:picLocks noChangeAspect="1"/>
          </p:cNvPicPr>
          <p:nvPr/>
        </p:nvPicPr>
        <p:blipFill>
          <a:blip r:embed="rId5"/>
          <a:stretch>
            <a:fillRect/>
          </a:stretch>
        </p:blipFill>
        <p:spPr>
          <a:xfrm>
            <a:off x="1718809" y="876185"/>
            <a:ext cx="6075363" cy="3715999"/>
          </a:xfrm>
          <a:prstGeom prst="rect">
            <a:avLst/>
          </a:prstGeom>
        </p:spPr>
      </p:pic>
    </p:spTree>
    <p:extLst>
      <p:ext uri="{BB962C8B-B14F-4D97-AF65-F5344CB8AC3E}">
        <p14:creationId xmlns:p14="http://schemas.microsoft.com/office/powerpoint/2010/main" val="1517842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4D9D0"/>
          </a:solidFill>
          <a:ln w="12700">
            <a:solidFill>
              <a:srgbClr val="6E2F1A"/>
            </a:solidFill>
            <a:prstDash val="solid"/>
          </a:ln>
        </p:spPr>
        <p:txBody>
          <a:bodyPr/>
          <a:lstStyle/>
          <a:p>
            <a:endParaRPr lang="en-IN"/>
          </a:p>
        </p:txBody>
      </p:sp>
      <p:sp>
        <p:nvSpPr>
          <p:cNvPr id="3" name="Text 1"/>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Emotion Recognition: Results</a:t>
            </a:r>
            <a:endParaRPr lang="en-US" sz="2200" dirty="0"/>
          </a:p>
        </p:txBody>
      </p:sp>
      <p:sp>
        <p:nvSpPr>
          <p:cNvPr id="4" name="Shape 2"/>
          <p:cNvSpPr/>
          <p:nvPr/>
        </p:nvSpPr>
        <p:spPr>
          <a:xfrm>
            <a:off x="274320" y="822960"/>
            <a:ext cx="1920240" cy="1280160"/>
          </a:xfrm>
          <a:prstGeom prst="rect">
            <a:avLst/>
          </a:prstGeom>
          <a:solidFill>
            <a:srgbClr val="6E2F1A"/>
          </a:solidFill>
          <a:ln w="12700">
            <a:solidFill>
              <a:srgbClr val="6E2F1A"/>
            </a:solidFill>
            <a:prstDash val="solid"/>
          </a:ln>
          <a:effectLst>
            <a:outerShdw blurRad="101600" dist="38100" dir="8100000" algn="bl" rotWithShape="0">
              <a:srgbClr val="000000">
                <a:alpha val="12000"/>
              </a:srgbClr>
            </a:outerShdw>
          </a:effectLst>
        </p:spPr>
        <p:txBody>
          <a:bodyPr/>
          <a:lstStyle/>
          <a:p>
            <a:endParaRPr lang="en-IN"/>
          </a:p>
        </p:txBody>
      </p:sp>
      <p:sp>
        <p:nvSpPr>
          <p:cNvPr id="5" name="Text 3"/>
          <p:cNvSpPr/>
          <p:nvPr/>
        </p:nvSpPr>
        <p:spPr>
          <a:xfrm>
            <a:off x="274320" y="841248"/>
            <a:ext cx="1920240" cy="777240"/>
          </a:xfrm>
          <a:prstGeom prst="rect">
            <a:avLst/>
          </a:prstGeom>
          <a:noFill/>
          <a:ln/>
        </p:spPr>
        <p:txBody>
          <a:bodyPr wrap="square" rtlCol="0" anchor="ctr"/>
          <a:lstStyle/>
          <a:p>
            <a:pPr marL="0" indent="0" algn="ctr">
              <a:buNone/>
            </a:pPr>
            <a:r>
              <a:rPr lang="en-US" sz="3600" b="1" dirty="0">
                <a:solidFill>
                  <a:srgbClr val="FFFFFF"/>
                </a:solidFill>
              </a:rPr>
              <a:t>97%</a:t>
            </a:r>
            <a:endParaRPr lang="en-US" sz="3600" dirty="0"/>
          </a:p>
        </p:txBody>
      </p:sp>
      <p:sp>
        <p:nvSpPr>
          <p:cNvPr id="6" name="Text 4"/>
          <p:cNvSpPr/>
          <p:nvPr/>
        </p:nvSpPr>
        <p:spPr>
          <a:xfrm>
            <a:off x="274320" y="1600200"/>
            <a:ext cx="1920240" cy="457200"/>
          </a:xfrm>
          <a:prstGeom prst="rect">
            <a:avLst/>
          </a:prstGeom>
          <a:noFill/>
          <a:ln/>
        </p:spPr>
        <p:txBody>
          <a:bodyPr wrap="square" rtlCol="0" anchor="ctr"/>
          <a:lstStyle/>
          <a:p>
            <a:pPr marL="0" indent="0" algn="ctr">
              <a:buNone/>
            </a:pPr>
            <a:r>
              <a:rPr lang="en-US" sz="1200" dirty="0">
                <a:solidFill>
                  <a:srgbClr val="F1948A"/>
                </a:solidFill>
              </a:rPr>
              <a:t>RF Accuracy</a:t>
            </a:r>
            <a:endParaRPr lang="en-US" sz="1200" dirty="0"/>
          </a:p>
        </p:txBody>
      </p:sp>
      <p:sp>
        <p:nvSpPr>
          <p:cNvPr id="7" name="Shape 5"/>
          <p:cNvSpPr/>
          <p:nvPr/>
        </p:nvSpPr>
        <p:spPr>
          <a:xfrm>
            <a:off x="2423160" y="822960"/>
            <a:ext cx="1920240" cy="1280160"/>
          </a:xfrm>
          <a:prstGeom prst="rect">
            <a:avLst/>
          </a:prstGeom>
          <a:solidFill>
            <a:srgbClr val="6E2F1A"/>
          </a:solidFill>
          <a:ln w="12700">
            <a:solidFill>
              <a:srgbClr val="6E2F1A"/>
            </a:solidFill>
            <a:prstDash val="solid"/>
          </a:ln>
          <a:effectLst>
            <a:outerShdw blurRad="101600" dist="38100" dir="8100000" algn="bl" rotWithShape="0">
              <a:srgbClr val="000000">
                <a:alpha val="12000"/>
              </a:srgbClr>
            </a:outerShdw>
          </a:effectLst>
        </p:spPr>
        <p:txBody>
          <a:bodyPr/>
          <a:lstStyle/>
          <a:p>
            <a:endParaRPr lang="en-IN"/>
          </a:p>
        </p:txBody>
      </p:sp>
      <p:sp>
        <p:nvSpPr>
          <p:cNvPr id="8" name="Text 6"/>
          <p:cNvSpPr/>
          <p:nvPr/>
        </p:nvSpPr>
        <p:spPr>
          <a:xfrm>
            <a:off x="2423160" y="841248"/>
            <a:ext cx="1920240" cy="777240"/>
          </a:xfrm>
          <a:prstGeom prst="rect">
            <a:avLst/>
          </a:prstGeom>
          <a:noFill/>
          <a:ln/>
        </p:spPr>
        <p:txBody>
          <a:bodyPr wrap="square" rtlCol="0" anchor="ctr"/>
          <a:lstStyle/>
          <a:p>
            <a:pPr marL="0" indent="0" algn="ctr">
              <a:buNone/>
            </a:pPr>
            <a:r>
              <a:rPr lang="en-US" sz="3600" b="1" dirty="0">
                <a:solidFill>
                  <a:srgbClr val="FFFFFF"/>
                </a:solidFill>
              </a:rPr>
              <a:t>0.965</a:t>
            </a:r>
            <a:endParaRPr lang="en-US" sz="3600" dirty="0"/>
          </a:p>
        </p:txBody>
      </p:sp>
      <p:sp>
        <p:nvSpPr>
          <p:cNvPr id="9" name="Text 7"/>
          <p:cNvSpPr/>
          <p:nvPr/>
        </p:nvSpPr>
        <p:spPr>
          <a:xfrm>
            <a:off x="2423160" y="1600200"/>
            <a:ext cx="1920240" cy="457200"/>
          </a:xfrm>
          <a:prstGeom prst="rect">
            <a:avLst/>
          </a:prstGeom>
          <a:noFill/>
          <a:ln/>
        </p:spPr>
        <p:txBody>
          <a:bodyPr wrap="square" rtlCol="0" anchor="ctr"/>
          <a:lstStyle/>
          <a:p>
            <a:pPr marL="0" indent="0" algn="ctr">
              <a:buNone/>
            </a:pPr>
            <a:r>
              <a:rPr lang="en-US" sz="1200" dirty="0">
                <a:solidFill>
                  <a:srgbClr val="F1948A"/>
                </a:solidFill>
              </a:rPr>
              <a:t>ROC-AUC</a:t>
            </a:r>
            <a:endParaRPr lang="en-US" sz="1200" dirty="0"/>
          </a:p>
        </p:txBody>
      </p:sp>
      <p:sp>
        <p:nvSpPr>
          <p:cNvPr id="10" name="Shape 8"/>
          <p:cNvSpPr/>
          <p:nvPr/>
        </p:nvSpPr>
        <p:spPr>
          <a:xfrm>
            <a:off x="4572000" y="822960"/>
            <a:ext cx="1920240" cy="1280160"/>
          </a:xfrm>
          <a:prstGeom prst="rect">
            <a:avLst/>
          </a:prstGeom>
          <a:solidFill>
            <a:srgbClr val="922B21"/>
          </a:solidFill>
          <a:ln w="12700">
            <a:solidFill>
              <a:srgbClr val="922B21"/>
            </a:solidFill>
            <a:prstDash val="solid"/>
          </a:ln>
          <a:effectLst>
            <a:outerShdw blurRad="101600" dist="38100" dir="8100000" algn="bl" rotWithShape="0">
              <a:srgbClr val="000000">
                <a:alpha val="12000"/>
              </a:srgbClr>
            </a:outerShdw>
          </a:effectLst>
        </p:spPr>
        <p:txBody>
          <a:bodyPr/>
          <a:lstStyle/>
          <a:p>
            <a:endParaRPr lang="en-IN"/>
          </a:p>
        </p:txBody>
      </p:sp>
      <p:sp>
        <p:nvSpPr>
          <p:cNvPr id="11" name="Text 9"/>
          <p:cNvSpPr/>
          <p:nvPr/>
        </p:nvSpPr>
        <p:spPr>
          <a:xfrm>
            <a:off x="4572000" y="841248"/>
            <a:ext cx="1920240" cy="777240"/>
          </a:xfrm>
          <a:prstGeom prst="rect">
            <a:avLst/>
          </a:prstGeom>
          <a:noFill/>
          <a:ln/>
        </p:spPr>
        <p:txBody>
          <a:bodyPr wrap="square" rtlCol="0" anchor="ctr"/>
          <a:lstStyle/>
          <a:p>
            <a:pPr marL="0" indent="0" algn="ctr">
              <a:buNone/>
            </a:pPr>
            <a:r>
              <a:rPr lang="en-US" sz="3600" b="1" dirty="0">
                <a:solidFill>
                  <a:srgbClr val="FFFFFF"/>
                </a:solidFill>
              </a:rPr>
              <a:t>0.98</a:t>
            </a:r>
            <a:endParaRPr lang="en-US" sz="3600" dirty="0"/>
          </a:p>
        </p:txBody>
      </p:sp>
      <p:sp>
        <p:nvSpPr>
          <p:cNvPr id="12" name="Text 10"/>
          <p:cNvSpPr/>
          <p:nvPr/>
        </p:nvSpPr>
        <p:spPr>
          <a:xfrm>
            <a:off x="4572000" y="1600200"/>
            <a:ext cx="1920240" cy="457200"/>
          </a:xfrm>
          <a:prstGeom prst="rect">
            <a:avLst/>
          </a:prstGeom>
          <a:noFill/>
          <a:ln/>
        </p:spPr>
        <p:txBody>
          <a:bodyPr wrap="square" rtlCol="0" anchor="ctr"/>
          <a:lstStyle/>
          <a:p>
            <a:pPr marL="0" indent="0" algn="ctr">
              <a:buNone/>
            </a:pPr>
            <a:r>
              <a:rPr lang="en-US" sz="1200" dirty="0">
                <a:solidFill>
                  <a:srgbClr val="F1948A"/>
                </a:solidFill>
              </a:rPr>
              <a:t>Precision</a:t>
            </a:r>
            <a:endParaRPr lang="en-US" sz="1200" dirty="0"/>
          </a:p>
        </p:txBody>
      </p:sp>
      <p:sp>
        <p:nvSpPr>
          <p:cNvPr id="13" name="Shape 11"/>
          <p:cNvSpPr/>
          <p:nvPr/>
        </p:nvSpPr>
        <p:spPr>
          <a:xfrm>
            <a:off x="6720840" y="822960"/>
            <a:ext cx="1920240" cy="1280160"/>
          </a:xfrm>
          <a:prstGeom prst="rect">
            <a:avLst/>
          </a:prstGeom>
          <a:solidFill>
            <a:srgbClr val="922B21"/>
          </a:solidFill>
          <a:ln w="12700">
            <a:solidFill>
              <a:srgbClr val="922B21"/>
            </a:solidFill>
            <a:prstDash val="solid"/>
          </a:ln>
          <a:effectLst>
            <a:outerShdw blurRad="101600" dist="38100" dir="8100000" algn="bl" rotWithShape="0">
              <a:srgbClr val="000000">
                <a:alpha val="12000"/>
              </a:srgbClr>
            </a:outerShdw>
          </a:effectLst>
        </p:spPr>
        <p:txBody>
          <a:bodyPr/>
          <a:lstStyle/>
          <a:p>
            <a:endParaRPr lang="en-IN"/>
          </a:p>
        </p:txBody>
      </p:sp>
      <p:sp>
        <p:nvSpPr>
          <p:cNvPr id="14" name="Text 12"/>
          <p:cNvSpPr/>
          <p:nvPr/>
        </p:nvSpPr>
        <p:spPr>
          <a:xfrm>
            <a:off x="6720840" y="841248"/>
            <a:ext cx="1920240" cy="777240"/>
          </a:xfrm>
          <a:prstGeom prst="rect">
            <a:avLst/>
          </a:prstGeom>
          <a:noFill/>
          <a:ln/>
        </p:spPr>
        <p:txBody>
          <a:bodyPr wrap="square" rtlCol="0" anchor="ctr"/>
          <a:lstStyle/>
          <a:p>
            <a:pPr marL="0" indent="0" algn="ctr">
              <a:buNone/>
            </a:pPr>
            <a:r>
              <a:rPr lang="en-US" sz="3600" b="1" dirty="0">
                <a:solidFill>
                  <a:srgbClr val="FFFFFF"/>
                </a:solidFill>
              </a:rPr>
              <a:t>5</a:t>
            </a:r>
            <a:endParaRPr lang="en-US" sz="3600" dirty="0"/>
          </a:p>
        </p:txBody>
      </p:sp>
      <p:sp>
        <p:nvSpPr>
          <p:cNvPr id="15" name="Text 13"/>
          <p:cNvSpPr/>
          <p:nvPr/>
        </p:nvSpPr>
        <p:spPr>
          <a:xfrm>
            <a:off x="6720840" y="1600200"/>
            <a:ext cx="1920240" cy="457200"/>
          </a:xfrm>
          <a:prstGeom prst="rect">
            <a:avLst/>
          </a:prstGeom>
          <a:noFill/>
          <a:ln/>
        </p:spPr>
        <p:txBody>
          <a:bodyPr wrap="square" rtlCol="0" anchor="ctr"/>
          <a:lstStyle/>
          <a:p>
            <a:pPr marL="0" indent="0" algn="ctr">
              <a:buNone/>
            </a:pPr>
            <a:r>
              <a:rPr lang="en-US" sz="1200" dirty="0">
                <a:solidFill>
                  <a:srgbClr val="F1948A"/>
                </a:solidFill>
              </a:rPr>
              <a:t>Emotion Classes</a:t>
            </a:r>
            <a:endParaRPr lang="en-US" sz="1200" dirty="0"/>
          </a:p>
        </p:txBody>
      </p:sp>
      <p:sp>
        <p:nvSpPr>
          <p:cNvPr id="16" name="Text 14"/>
          <p:cNvSpPr/>
          <p:nvPr/>
        </p:nvSpPr>
        <p:spPr>
          <a:xfrm>
            <a:off x="274320" y="2286000"/>
            <a:ext cx="8595360" cy="320040"/>
          </a:xfrm>
          <a:prstGeom prst="rect">
            <a:avLst/>
          </a:prstGeom>
          <a:noFill/>
          <a:ln/>
        </p:spPr>
        <p:txBody>
          <a:bodyPr wrap="square" rtlCol="0" anchor="ctr"/>
          <a:lstStyle/>
          <a:p>
            <a:pPr marL="0" indent="0">
              <a:buNone/>
            </a:pPr>
            <a:r>
              <a:rPr lang="en-US" sz="1400" b="1" dirty="0">
                <a:solidFill>
                  <a:srgbClr val="6E2F1A"/>
                </a:solidFill>
                <a:latin typeface="Calibri" pitchFamily="34" charset="0"/>
                <a:ea typeface="Calibri" pitchFamily="34" charset="-122"/>
                <a:cs typeface="Calibri" pitchFamily="34" charset="-120"/>
              </a:rPr>
              <a:t>Per-Class Classification Performance (Confusion Matrix Summary)</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2651760"/>
          <a:ext cx="8595360" cy="2304288"/>
        </p:xfrm>
        <a:graphic>
          <a:graphicData uri="http://schemas.openxmlformats.org/drawingml/2006/table">
            <a:tbl>
              <a:tblPr/>
              <a:tblGrid>
                <a:gridCol w="214884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2148840">
                  <a:extLst>
                    <a:ext uri="{9D8B030D-6E8A-4147-A177-3AD203B41FA5}">
                      <a16:colId xmlns:a16="http://schemas.microsoft.com/office/drawing/2014/main" val="20003"/>
                    </a:ext>
                  </a:extLst>
                </a:gridCol>
              </a:tblGrid>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Emotion</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6E2F1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Correct</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6E2F1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Total</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6E2F1A"/>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Misclassified As</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6E2F1A"/>
                    </a:solidFill>
                  </a:tcPr>
                </a:tc>
                <a:extLst>
                  <a:ext uri="{0D108BD9-81ED-4DB2-BD59-A6C34878D82A}">
                    <a16:rowId xmlns:a16="http://schemas.microsoft.com/office/drawing/2014/main" val="10000"/>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Calm</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79/80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1 → Happy</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Fear</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78/80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2 → Stress</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Happy</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76/80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4 → Neutral</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Neutral</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77/80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3 → Happy</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Stress ★</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80/80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80</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None — Perfect!</a:t>
                      </a:r>
                      <a:endParaRPr lang="en-US" sz="1250" dirty="0">
                        <a:latin typeface="Calibri" charset="0"/>
                        <a:ea typeface="Calibri" charset="0"/>
                        <a:cs typeface="Calibri" charset="0"/>
                      </a:endParaRPr>
                    </a:p>
                  </a:txBody>
                  <a:tcPr>
                    <a:lnL w="6350" cap="flat" cmpd="sng" algn="ctr">
                      <a:solidFill>
                        <a:srgbClr val="BDC3C7"/>
                      </a:solidFill>
                      <a:prstDash val="solid"/>
                      <a:round/>
                      <a:headEnd type="none" w="med" len="med"/>
                      <a:tailEnd type="none" w="med" len="med"/>
                    </a:lnL>
                    <a:lnR w="6350" cap="flat" cmpd="sng" algn="ctr">
                      <a:solidFill>
                        <a:srgbClr val="BDC3C7"/>
                      </a:solidFill>
                      <a:prstDash val="solid"/>
                      <a:round/>
                      <a:headEnd type="none" w="med" len="med"/>
                      <a:tailEnd type="none" w="med" len="med"/>
                    </a:lnR>
                    <a:lnT w="6350" cap="flat" cmpd="sng" algn="ctr">
                      <a:solidFill>
                        <a:srgbClr val="BDC3C7"/>
                      </a:solidFill>
                      <a:prstDash val="solid"/>
                      <a:round/>
                      <a:headEnd type="none" w="med" len="med"/>
                      <a:tailEnd type="none" w="med" len="med"/>
                    </a:lnT>
                    <a:lnB w="6350" cap="flat" cmpd="sng" algn="ctr">
                      <a:solidFill>
                        <a:srgbClr val="BDC3C7"/>
                      </a:solidFill>
                      <a:prstDash val="solid"/>
                      <a:round/>
                      <a:headEnd type="none" w="med" len="med"/>
                      <a:tailEnd type="none" w="med" len="med"/>
                    </a:lnB>
                    <a:solidFill>
                      <a:srgbClr val="1ABC9C"/>
                    </a:solidFill>
                  </a:tcPr>
                </a:tc>
                <a:extLst>
                  <a:ext uri="{0D108BD9-81ED-4DB2-BD59-A6C34878D82A}">
                    <a16:rowId xmlns:a16="http://schemas.microsoft.com/office/drawing/2014/main" val="10005"/>
                  </a:ext>
                </a:extLst>
              </a:tr>
            </a:tbl>
          </a:graphicData>
        </a:graphic>
      </p:graphicFrame>
      <p:pic>
        <p:nvPicPr>
          <p:cNvPr id="19" name="Picture 18">
            <a:extLst>
              <a:ext uri="{FF2B5EF4-FFF2-40B4-BE49-F238E27FC236}">
                <a16:creationId xmlns:a16="http://schemas.microsoft.com/office/drawing/2014/main" id="{76BA69C5-A4BA-7E6C-52C4-9FF7EF07EBB6}"/>
              </a:ext>
            </a:extLst>
          </p:cNvPr>
          <p:cNvPicPr>
            <a:picLocks noChangeAspect="1"/>
          </p:cNvPicPr>
          <p:nvPr/>
        </p:nvPicPr>
        <p:blipFill>
          <a:blip r:embed="rId3"/>
          <a:stretch>
            <a:fillRect/>
          </a:stretch>
        </p:blipFill>
        <p:spPr>
          <a:xfrm>
            <a:off x="8191940" y="0"/>
            <a:ext cx="898279" cy="733163"/>
          </a:xfrm>
          <a:prstGeom prst="rect">
            <a:avLst/>
          </a:prstGeom>
        </p:spPr>
      </p:pic>
      <p:pic>
        <p:nvPicPr>
          <p:cNvPr id="20" name="Picture 19">
            <a:extLst>
              <a:ext uri="{FF2B5EF4-FFF2-40B4-BE49-F238E27FC236}">
                <a16:creationId xmlns:a16="http://schemas.microsoft.com/office/drawing/2014/main" id="{A74F3079-78C6-B052-C459-29488AD97732}"/>
              </a:ext>
            </a:extLst>
          </p:cNvPr>
          <p:cNvPicPr>
            <a:picLocks noChangeAspect="1"/>
          </p:cNvPicPr>
          <p:nvPr/>
        </p:nvPicPr>
        <p:blipFill>
          <a:blip r:embed="rId4"/>
          <a:stretch>
            <a:fillRect/>
          </a:stretch>
        </p:blipFill>
        <p:spPr>
          <a:xfrm>
            <a:off x="-77001" y="11097"/>
            <a:ext cx="1280160" cy="7204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50AC0C11-5FD0-52A9-E5C2-0216E5735D23}"/>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A24A9DD0-E931-6EE0-C4E3-1ADFCEFA3145}"/>
              </a:ext>
            </a:extLst>
          </p:cNvPr>
          <p:cNvSpPr/>
          <p:nvPr/>
        </p:nvSpPr>
        <p:spPr>
          <a:xfrm>
            <a:off x="0" y="0"/>
            <a:ext cx="9144000" cy="685800"/>
          </a:xfrm>
          <a:prstGeom prst="rect">
            <a:avLst/>
          </a:prstGeom>
          <a:solidFill>
            <a:srgbClr val="F4D9D0"/>
          </a:solidFill>
          <a:ln w="12700">
            <a:solidFill>
              <a:srgbClr val="6E2F1A"/>
            </a:solidFill>
            <a:prstDash val="solid"/>
          </a:ln>
        </p:spPr>
        <p:txBody>
          <a:bodyPr/>
          <a:lstStyle/>
          <a:p>
            <a:endParaRPr lang="en-IN"/>
          </a:p>
        </p:txBody>
      </p:sp>
      <p:sp>
        <p:nvSpPr>
          <p:cNvPr id="3" name="Text 1">
            <a:extLst>
              <a:ext uri="{FF2B5EF4-FFF2-40B4-BE49-F238E27FC236}">
                <a16:creationId xmlns:a16="http://schemas.microsoft.com/office/drawing/2014/main" id="{7F5CF267-A17E-E620-E911-E5197A4B7548}"/>
              </a:ext>
            </a:extLst>
          </p:cNvPr>
          <p:cNvSpPr/>
          <p:nvPr/>
        </p:nvSpPr>
        <p:spPr>
          <a:xfrm>
            <a:off x="365760" y="0"/>
            <a:ext cx="8412480" cy="685800"/>
          </a:xfrm>
          <a:prstGeom prst="rect">
            <a:avLst/>
          </a:prstGeom>
          <a:noFill/>
          <a:ln/>
        </p:spPr>
        <p:txBody>
          <a:bodyPr wrap="square" rtlCol="0" anchor="ctr"/>
          <a:lstStyle/>
          <a:p>
            <a:pPr marL="0" indent="0" algn="ctr">
              <a:buNone/>
            </a:pPr>
            <a:r>
              <a:rPr lang="en-US" sz="2200" b="1" dirty="0">
                <a:latin typeface="Calibri" pitchFamily="34" charset="0"/>
                <a:ea typeface="Calibri" pitchFamily="34" charset="-122"/>
                <a:cs typeface="Calibri" pitchFamily="34" charset="-120"/>
              </a:rPr>
              <a:t> Emotion Recognition: Results</a:t>
            </a:r>
            <a:endParaRPr lang="en-US" sz="2200" dirty="0"/>
          </a:p>
        </p:txBody>
      </p:sp>
      <p:pic>
        <p:nvPicPr>
          <p:cNvPr id="19" name="Picture 18">
            <a:extLst>
              <a:ext uri="{FF2B5EF4-FFF2-40B4-BE49-F238E27FC236}">
                <a16:creationId xmlns:a16="http://schemas.microsoft.com/office/drawing/2014/main" id="{B44F2E76-06D9-C21D-F783-F4E73FC2E044}"/>
              </a:ext>
            </a:extLst>
          </p:cNvPr>
          <p:cNvPicPr>
            <a:picLocks noChangeAspect="1"/>
          </p:cNvPicPr>
          <p:nvPr/>
        </p:nvPicPr>
        <p:blipFill>
          <a:blip r:embed="rId3"/>
          <a:stretch>
            <a:fillRect/>
          </a:stretch>
        </p:blipFill>
        <p:spPr>
          <a:xfrm>
            <a:off x="8191940" y="0"/>
            <a:ext cx="898279" cy="733163"/>
          </a:xfrm>
          <a:prstGeom prst="rect">
            <a:avLst/>
          </a:prstGeom>
        </p:spPr>
      </p:pic>
      <p:pic>
        <p:nvPicPr>
          <p:cNvPr id="20" name="Picture 19">
            <a:extLst>
              <a:ext uri="{FF2B5EF4-FFF2-40B4-BE49-F238E27FC236}">
                <a16:creationId xmlns:a16="http://schemas.microsoft.com/office/drawing/2014/main" id="{96C863A6-752C-9471-62DE-044C5FC3D014}"/>
              </a:ext>
            </a:extLst>
          </p:cNvPr>
          <p:cNvPicPr>
            <a:picLocks noChangeAspect="1"/>
          </p:cNvPicPr>
          <p:nvPr/>
        </p:nvPicPr>
        <p:blipFill>
          <a:blip r:embed="rId4"/>
          <a:stretch>
            <a:fillRect/>
          </a:stretch>
        </p:blipFill>
        <p:spPr>
          <a:xfrm>
            <a:off x="-77001" y="11097"/>
            <a:ext cx="1280160" cy="720423"/>
          </a:xfrm>
          <a:prstGeom prst="rect">
            <a:avLst/>
          </a:prstGeom>
        </p:spPr>
      </p:pic>
      <p:pic>
        <p:nvPicPr>
          <p:cNvPr id="5" name="Picture 4">
            <a:extLst>
              <a:ext uri="{FF2B5EF4-FFF2-40B4-BE49-F238E27FC236}">
                <a16:creationId xmlns:a16="http://schemas.microsoft.com/office/drawing/2014/main" id="{D1DBF3B8-201E-DBB5-AFDB-A1F0F1F4D77F}"/>
              </a:ext>
            </a:extLst>
          </p:cNvPr>
          <p:cNvPicPr>
            <a:picLocks noChangeAspect="1"/>
          </p:cNvPicPr>
          <p:nvPr/>
        </p:nvPicPr>
        <p:blipFill>
          <a:blip r:embed="rId5"/>
          <a:stretch>
            <a:fillRect/>
          </a:stretch>
        </p:blipFill>
        <p:spPr>
          <a:xfrm>
            <a:off x="2648857" y="873411"/>
            <a:ext cx="3133632" cy="4083218"/>
          </a:xfrm>
          <a:prstGeom prst="rect">
            <a:avLst/>
          </a:prstGeom>
        </p:spPr>
      </p:pic>
      <p:pic>
        <p:nvPicPr>
          <p:cNvPr id="7" name="Picture 6">
            <a:extLst>
              <a:ext uri="{FF2B5EF4-FFF2-40B4-BE49-F238E27FC236}">
                <a16:creationId xmlns:a16="http://schemas.microsoft.com/office/drawing/2014/main" id="{578716AD-39B5-9FCD-CEEF-E5A8A7F9ECA3}"/>
              </a:ext>
            </a:extLst>
          </p:cNvPr>
          <p:cNvPicPr>
            <a:picLocks noChangeAspect="1"/>
          </p:cNvPicPr>
          <p:nvPr/>
        </p:nvPicPr>
        <p:blipFill>
          <a:blip r:embed="rId6"/>
          <a:srcRect r="4905"/>
          <a:stretch>
            <a:fillRect/>
          </a:stretch>
        </p:blipFill>
        <p:spPr>
          <a:xfrm>
            <a:off x="5923356" y="892627"/>
            <a:ext cx="3133633" cy="4064002"/>
          </a:xfrm>
          <a:prstGeom prst="rect">
            <a:avLst/>
          </a:prstGeom>
        </p:spPr>
      </p:pic>
      <p:pic>
        <p:nvPicPr>
          <p:cNvPr id="10" name="Picture 9">
            <a:extLst>
              <a:ext uri="{FF2B5EF4-FFF2-40B4-BE49-F238E27FC236}">
                <a16:creationId xmlns:a16="http://schemas.microsoft.com/office/drawing/2014/main" id="{CB5F5F76-EE91-53EB-AE01-212A42252A11}"/>
              </a:ext>
            </a:extLst>
          </p:cNvPr>
          <p:cNvPicPr>
            <a:picLocks noChangeAspect="1"/>
          </p:cNvPicPr>
          <p:nvPr/>
        </p:nvPicPr>
        <p:blipFill>
          <a:blip r:embed="rId7"/>
          <a:stretch>
            <a:fillRect/>
          </a:stretch>
        </p:blipFill>
        <p:spPr>
          <a:xfrm>
            <a:off x="3729" y="1015999"/>
            <a:ext cx="2570574" cy="3874951"/>
          </a:xfrm>
          <a:prstGeom prst="rect">
            <a:avLst/>
          </a:prstGeom>
        </p:spPr>
      </p:pic>
    </p:spTree>
    <p:extLst>
      <p:ext uri="{BB962C8B-B14F-4D97-AF65-F5344CB8AC3E}">
        <p14:creationId xmlns:p14="http://schemas.microsoft.com/office/powerpoint/2010/main" val="2116619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chemeClr val="accent3">
              <a:lumMod val="20000"/>
              <a:lumOff val="80000"/>
            </a:schemeClr>
          </a:solidFill>
          <a:ln w="12700">
            <a:solidFill>
              <a:srgbClr val="1B4F72"/>
            </a:solidFill>
            <a:prstDash val="solid"/>
          </a:ln>
        </p:spPr>
        <p:txBody>
          <a:bodyPr/>
          <a:lstStyle/>
          <a:p>
            <a:endParaRPr lang="en-IN"/>
          </a:p>
        </p:txBody>
      </p:sp>
      <p:sp>
        <p:nvSpPr>
          <p:cNvPr id="3" name="Text 1"/>
          <p:cNvSpPr/>
          <p:nvPr/>
        </p:nvSpPr>
        <p:spPr>
          <a:xfrm>
            <a:off x="365760" y="0"/>
            <a:ext cx="8412480" cy="685800"/>
          </a:xfrm>
          <a:prstGeom prst="rect">
            <a:avLst/>
          </a:prstGeom>
          <a:noFill/>
          <a:ln/>
        </p:spPr>
        <p:txBody>
          <a:bodyPr wrap="square" rtlCol="0" anchor="ctr"/>
          <a:lstStyle/>
          <a:p>
            <a:pPr marL="0" indent="0" algn="ctr">
              <a:buNone/>
            </a:pPr>
            <a:r>
              <a:rPr lang="en-US" sz="2400" b="1" dirty="0">
                <a:latin typeface="Calibri" pitchFamily="34" charset="0"/>
                <a:ea typeface="Calibri" pitchFamily="34" charset="-122"/>
                <a:cs typeface="Calibri" pitchFamily="34" charset="-120"/>
              </a:rPr>
              <a:t>Explainability &amp; Interpretability (XAI)</a:t>
            </a:r>
            <a:endParaRPr lang="en-US" sz="2400" dirty="0"/>
          </a:p>
        </p:txBody>
      </p:sp>
      <p:sp>
        <p:nvSpPr>
          <p:cNvPr id="6" name="Text 4"/>
          <p:cNvSpPr/>
          <p:nvPr/>
        </p:nvSpPr>
        <p:spPr>
          <a:xfrm>
            <a:off x="274320" y="822960"/>
            <a:ext cx="2788920" cy="457200"/>
          </a:xfrm>
          <a:prstGeom prst="rect">
            <a:avLst/>
          </a:prstGeom>
          <a:noFill/>
          <a:ln/>
        </p:spPr>
        <p:txBody>
          <a:bodyPr wrap="square" rtlCol="0" anchor="ctr"/>
          <a:lstStyle/>
          <a:p>
            <a:pPr marL="0" indent="0" algn="ctr">
              <a:buNone/>
            </a:pPr>
            <a:endParaRPr lang="en-US" sz="1500" dirty="0"/>
          </a:p>
        </p:txBody>
      </p:sp>
      <p:sp>
        <p:nvSpPr>
          <p:cNvPr id="7" name="Text 5"/>
          <p:cNvSpPr/>
          <p:nvPr/>
        </p:nvSpPr>
        <p:spPr>
          <a:xfrm>
            <a:off x="365760" y="1353312"/>
            <a:ext cx="2606040" cy="320040"/>
          </a:xfrm>
          <a:prstGeom prst="rect">
            <a:avLst/>
          </a:prstGeom>
          <a:noFill/>
          <a:ln/>
        </p:spPr>
        <p:txBody>
          <a:bodyPr wrap="square" rtlCol="0" anchor="ctr"/>
          <a:lstStyle/>
          <a:p>
            <a:pPr marL="0" indent="0">
              <a:buNone/>
            </a:pPr>
            <a:endParaRPr lang="en-US" sz="1150" dirty="0"/>
          </a:p>
        </p:txBody>
      </p:sp>
      <p:sp>
        <p:nvSpPr>
          <p:cNvPr id="8" name="Text 6"/>
          <p:cNvSpPr/>
          <p:nvPr/>
        </p:nvSpPr>
        <p:spPr>
          <a:xfrm>
            <a:off x="365760" y="1719072"/>
            <a:ext cx="2606040" cy="1920240"/>
          </a:xfrm>
          <a:prstGeom prst="rect">
            <a:avLst/>
          </a:prstGeom>
          <a:noFill/>
          <a:ln/>
        </p:spPr>
        <p:txBody>
          <a:bodyPr wrap="square" rtlCol="0" anchor="ctr"/>
          <a:lstStyle/>
          <a:p>
            <a:pPr marL="0" indent="0">
              <a:buNone/>
            </a:pPr>
            <a:endParaRPr lang="en-US" sz="1150" dirty="0"/>
          </a:p>
        </p:txBody>
      </p:sp>
      <p:sp>
        <p:nvSpPr>
          <p:cNvPr id="10" name="Text 8"/>
          <p:cNvSpPr/>
          <p:nvPr/>
        </p:nvSpPr>
        <p:spPr>
          <a:xfrm>
            <a:off x="411480" y="3730752"/>
            <a:ext cx="2514600" cy="749808"/>
          </a:xfrm>
          <a:prstGeom prst="rect">
            <a:avLst/>
          </a:prstGeom>
          <a:noFill/>
          <a:ln/>
        </p:spPr>
        <p:txBody>
          <a:bodyPr wrap="square" rtlCol="0" anchor="ctr"/>
          <a:lstStyle/>
          <a:p>
            <a:pPr marL="0" indent="0">
              <a:buNone/>
            </a:pPr>
            <a:endParaRPr lang="en-US" sz="1100" dirty="0"/>
          </a:p>
        </p:txBody>
      </p:sp>
      <p:sp>
        <p:nvSpPr>
          <p:cNvPr id="11" name="Shape 9"/>
          <p:cNvSpPr/>
          <p:nvPr/>
        </p:nvSpPr>
        <p:spPr>
          <a:xfrm>
            <a:off x="1577340" y="731520"/>
            <a:ext cx="2788920" cy="39776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12" name="Shape 10"/>
          <p:cNvSpPr/>
          <p:nvPr/>
        </p:nvSpPr>
        <p:spPr>
          <a:xfrm>
            <a:off x="1577340" y="731520"/>
            <a:ext cx="2788920" cy="457200"/>
          </a:xfrm>
          <a:prstGeom prst="rect">
            <a:avLst/>
          </a:prstGeom>
          <a:solidFill>
            <a:srgbClr val="117A65"/>
          </a:solidFill>
          <a:ln w="12700">
            <a:solidFill>
              <a:srgbClr val="117A65"/>
            </a:solidFill>
            <a:prstDash val="solid"/>
          </a:ln>
        </p:spPr>
        <p:txBody>
          <a:bodyPr/>
          <a:lstStyle/>
          <a:p>
            <a:endParaRPr lang="en-IN"/>
          </a:p>
        </p:txBody>
      </p:sp>
      <p:sp>
        <p:nvSpPr>
          <p:cNvPr id="13" name="Text 11"/>
          <p:cNvSpPr/>
          <p:nvPr/>
        </p:nvSpPr>
        <p:spPr>
          <a:xfrm>
            <a:off x="1577340" y="731520"/>
            <a:ext cx="2788920" cy="457200"/>
          </a:xfrm>
          <a:prstGeom prst="rect">
            <a:avLst/>
          </a:prstGeom>
          <a:noFill/>
          <a:ln/>
        </p:spPr>
        <p:txBody>
          <a:bodyPr wrap="square" rtlCol="0" anchor="ctr"/>
          <a:lstStyle/>
          <a:p>
            <a:pPr marL="0" indent="0" algn="ctr">
              <a:buNone/>
            </a:pPr>
            <a:r>
              <a:rPr lang="en-US" sz="1500" b="1" dirty="0">
                <a:solidFill>
                  <a:srgbClr val="FFFFFF"/>
                </a:solidFill>
              </a:rPr>
              <a:t>SHAP Analysis</a:t>
            </a:r>
            <a:endParaRPr lang="en-US" sz="1500" dirty="0"/>
          </a:p>
        </p:txBody>
      </p:sp>
      <p:sp>
        <p:nvSpPr>
          <p:cNvPr id="14" name="Text 12"/>
          <p:cNvSpPr/>
          <p:nvPr/>
        </p:nvSpPr>
        <p:spPr>
          <a:xfrm>
            <a:off x="1668780" y="1261872"/>
            <a:ext cx="2606040" cy="320040"/>
          </a:xfrm>
          <a:prstGeom prst="rect">
            <a:avLst/>
          </a:prstGeom>
          <a:noFill/>
          <a:ln/>
        </p:spPr>
        <p:txBody>
          <a:bodyPr wrap="square" rtlCol="0" anchor="ctr"/>
          <a:lstStyle/>
          <a:p>
            <a:pPr marL="0" indent="0">
              <a:buNone/>
            </a:pPr>
            <a:r>
              <a:rPr lang="en-US" sz="1150" b="1" i="1" dirty="0">
                <a:solidFill>
                  <a:srgbClr val="117A65"/>
                </a:solidFill>
                <a:latin typeface="Calibri" pitchFamily="34" charset="0"/>
                <a:ea typeface="Calibri" pitchFamily="34" charset="-122"/>
                <a:cs typeface="Calibri" pitchFamily="34" charset="-120"/>
              </a:rPr>
              <a:t>Project: MindWatch Stress Detection</a:t>
            </a:r>
            <a:endParaRPr lang="en-US" sz="1150" dirty="0"/>
          </a:p>
        </p:txBody>
      </p:sp>
      <p:sp>
        <p:nvSpPr>
          <p:cNvPr id="15" name="Text 13"/>
          <p:cNvSpPr/>
          <p:nvPr/>
        </p:nvSpPr>
        <p:spPr>
          <a:xfrm>
            <a:off x="1668780" y="1627632"/>
            <a:ext cx="2606040" cy="19202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SHapley Additive exPlanations assign a fair contribution score to each physiological feature. EDA, HR, and RMSSD emerged as the top contributors to stress detection — consistent with autonomic nervous system physiology literature.</a:t>
            </a:r>
            <a:endParaRPr lang="en-US" sz="1150" dirty="0"/>
          </a:p>
        </p:txBody>
      </p:sp>
      <p:sp>
        <p:nvSpPr>
          <p:cNvPr id="16" name="Shape 14"/>
          <p:cNvSpPr/>
          <p:nvPr/>
        </p:nvSpPr>
        <p:spPr>
          <a:xfrm>
            <a:off x="1668780" y="3611880"/>
            <a:ext cx="2606040" cy="804672"/>
          </a:xfrm>
          <a:prstGeom prst="rect">
            <a:avLst/>
          </a:prstGeom>
          <a:solidFill>
            <a:srgbClr val="EBF5FB"/>
          </a:solidFill>
          <a:ln w="12700">
            <a:solidFill>
              <a:srgbClr val="117A65"/>
            </a:solidFill>
            <a:prstDash val="solid"/>
          </a:ln>
        </p:spPr>
        <p:txBody>
          <a:bodyPr/>
          <a:lstStyle/>
          <a:p>
            <a:endParaRPr lang="en-IN"/>
          </a:p>
        </p:txBody>
      </p:sp>
      <p:sp>
        <p:nvSpPr>
          <p:cNvPr id="17" name="Text 15"/>
          <p:cNvSpPr/>
          <p:nvPr/>
        </p:nvSpPr>
        <p:spPr>
          <a:xfrm>
            <a:off x="1714500" y="3639312"/>
            <a:ext cx="2514600" cy="749808"/>
          </a:xfrm>
          <a:prstGeom prst="rect">
            <a:avLst/>
          </a:prstGeom>
          <a:noFill/>
          <a:ln/>
        </p:spPr>
        <p:txBody>
          <a:bodyPr wrap="square" rtlCol="0" anchor="ctr"/>
          <a:lstStyle/>
          <a:p>
            <a:pPr marL="0" indent="0">
              <a:buNone/>
            </a:pPr>
            <a:r>
              <a:rPr lang="en-US" sz="1100" b="1" dirty="0">
                <a:solidFill>
                  <a:srgbClr val="117A65"/>
                </a:solidFill>
                <a:latin typeface="Calibri" pitchFamily="34" charset="0"/>
                <a:ea typeface="Calibri" pitchFamily="34" charset="-122"/>
                <a:cs typeface="Calibri" pitchFamily="34" charset="-120"/>
              </a:rPr>
              <a:t>→ Feature transparency supports clinician confidence &amp; model debugging</a:t>
            </a:r>
            <a:endParaRPr lang="en-US" sz="1100" dirty="0"/>
          </a:p>
        </p:txBody>
      </p:sp>
      <p:sp>
        <p:nvSpPr>
          <p:cNvPr id="18" name="Shape 16"/>
          <p:cNvSpPr/>
          <p:nvPr/>
        </p:nvSpPr>
        <p:spPr>
          <a:xfrm>
            <a:off x="4521708" y="731520"/>
            <a:ext cx="2788920" cy="3977640"/>
          </a:xfrm>
          <a:prstGeom prst="rect">
            <a:avLst/>
          </a:prstGeom>
          <a:solidFill>
            <a:srgbClr val="FFFFFF"/>
          </a:solidFill>
          <a:ln w="12700">
            <a:solidFill>
              <a:srgbClr val="DDE6EE"/>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4521708" y="731520"/>
            <a:ext cx="2788920" cy="457200"/>
          </a:xfrm>
          <a:prstGeom prst="rect">
            <a:avLst/>
          </a:prstGeom>
          <a:solidFill>
            <a:srgbClr val="6E2F1A"/>
          </a:solidFill>
          <a:ln w="12700">
            <a:solidFill>
              <a:srgbClr val="6E2F1A"/>
            </a:solidFill>
            <a:prstDash val="solid"/>
          </a:ln>
        </p:spPr>
        <p:txBody>
          <a:bodyPr/>
          <a:lstStyle/>
          <a:p>
            <a:endParaRPr lang="en-IN"/>
          </a:p>
        </p:txBody>
      </p:sp>
      <p:sp>
        <p:nvSpPr>
          <p:cNvPr id="20" name="Text 18"/>
          <p:cNvSpPr/>
          <p:nvPr/>
        </p:nvSpPr>
        <p:spPr>
          <a:xfrm>
            <a:off x="4521708" y="731520"/>
            <a:ext cx="2788920" cy="457200"/>
          </a:xfrm>
          <a:prstGeom prst="rect">
            <a:avLst/>
          </a:prstGeom>
          <a:noFill/>
          <a:ln/>
        </p:spPr>
        <p:txBody>
          <a:bodyPr wrap="square" rtlCol="0" anchor="ctr"/>
          <a:lstStyle/>
          <a:p>
            <a:pPr marL="0" indent="0" algn="ctr">
              <a:buNone/>
            </a:pPr>
            <a:r>
              <a:rPr lang="en-US" sz="1500" b="1" dirty="0">
                <a:solidFill>
                  <a:srgbClr val="FFFFFF"/>
                </a:solidFill>
              </a:rPr>
              <a:t>Probability</a:t>
            </a:r>
            <a:endParaRPr lang="en-US" sz="1500" dirty="0"/>
          </a:p>
          <a:p>
            <a:pPr marL="0" indent="0" algn="ctr">
              <a:buNone/>
            </a:pPr>
            <a:r>
              <a:rPr lang="en-US" sz="1500" b="1" dirty="0">
                <a:solidFill>
                  <a:srgbClr val="FFFFFF"/>
                </a:solidFill>
              </a:rPr>
              <a:t>Confidence Score</a:t>
            </a:r>
            <a:endParaRPr lang="en-US" sz="1500" dirty="0"/>
          </a:p>
        </p:txBody>
      </p:sp>
      <p:sp>
        <p:nvSpPr>
          <p:cNvPr id="21" name="Text 19"/>
          <p:cNvSpPr/>
          <p:nvPr/>
        </p:nvSpPr>
        <p:spPr>
          <a:xfrm>
            <a:off x="4613148" y="1261872"/>
            <a:ext cx="2606040" cy="320040"/>
          </a:xfrm>
          <a:prstGeom prst="rect">
            <a:avLst/>
          </a:prstGeom>
          <a:noFill/>
          <a:ln/>
        </p:spPr>
        <p:txBody>
          <a:bodyPr wrap="square" rtlCol="0" anchor="ctr"/>
          <a:lstStyle/>
          <a:p>
            <a:pPr marL="0" indent="0">
              <a:buNone/>
            </a:pPr>
            <a:r>
              <a:rPr lang="en-US" sz="1150" b="1" i="1" dirty="0">
                <a:solidFill>
                  <a:srgbClr val="6E2F1A"/>
                </a:solidFill>
                <a:latin typeface="Calibri" pitchFamily="34" charset="0"/>
                <a:ea typeface="Calibri" pitchFamily="34" charset="-122"/>
                <a:cs typeface="Calibri" pitchFamily="34" charset="-120"/>
              </a:rPr>
              <a:t>Project: Emotion Recognition</a:t>
            </a:r>
            <a:endParaRPr lang="en-US" sz="1150" dirty="0"/>
          </a:p>
        </p:txBody>
      </p:sp>
      <p:sp>
        <p:nvSpPr>
          <p:cNvPr id="22" name="Text 20"/>
          <p:cNvSpPr/>
          <p:nvPr/>
        </p:nvSpPr>
        <p:spPr>
          <a:xfrm>
            <a:off x="4613148" y="1627632"/>
            <a:ext cx="2606040" cy="1920240"/>
          </a:xfrm>
          <a:prstGeom prst="rect">
            <a:avLst/>
          </a:prstGeom>
          <a:noFill/>
          <a:ln/>
        </p:spPr>
        <p:txBody>
          <a:bodyPr wrap="square"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The Random Forest ensemble outputs a probability for each emotion class via majority voting across decision trees. Emotional index dimensions (Valence, Arousal, Engagement) provide a richer psychological picture beyond discrete labels.</a:t>
            </a:r>
            <a:endParaRPr lang="en-US" sz="1150" dirty="0"/>
          </a:p>
        </p:txBody>
      </p:sp>
      <p:sp>
        <p:nvSpPr>
          <p:cNvPr id="23" name="Shape 21"/>
          <p:cNvSpPr/>
          <p:nvPr/>
        </p:nvSpPr>
        <p:spPr>
          <a:xfrm>
            <a:off x="4613148" y="3611880"/>
            <a:ext cx="2606040" cy="804672"/>
          </a:xfrm>
          <a:prstGeom prst="rect">
            <a:avLst/>
          </a:prstGeom>
          <a:solidFill>
            <a:srgbClr val="EBF5FB"/>
          </a:solidFill>
          <a:ln w="12700">
            <a:solidFill>
              <a:srgbClr val="6E2F1A"/>
            </a:solidFill>
            <a:prstDash val="solid"/>
          </a:ln>
        </p:spPr>
        <p:txBody>
          <a:bodyPr/>
          <a:lstStyle/>
          <a:p>
            <a:endParaRPr lang="en-IN"/>
          </a:p>
        </p:txBody>
      </p:sp>
      <p:sp>
        <p:nvSpPr>
          <p:cNvPr id="24" name="Text 22"/>
          <p:cNvSpPr/>
          <p:nvPr/>
        </p:nvSpPr>
        <p:spPr>
          <a:xfrm>
            <a:off x="4658868" y="3639312"/>
            <a:ext cx="2514600" cy="749808"/>
          </a:xfrm>
          <a:prstGeom prst="rect">
            <a:avLst/>
          </a:prstGeom>
          <a:noFill/>
          <a:ln/>
        </p:spPr>
        <p:txBody>
          <a:bodyPr wrap="square" rtlCol="0" anchor="ctr"/>
          <a:lstStyle/>
          <a:p>
            <a:pPr marL="0" indent="0">
              <a:buNone/>
            </a:pPr>
            <a:r>
              <a:rPr lang="en-US" sz="1100" b="1" dirty="0">
                <a:solidFill>
                  <a:srgbClr val="6E2F1A"/>
                </a:solidFill>
                <a:latin typeface="Calibri" pitchFamily="34" charset="0"/>
                <a:ea typeface="Calibri" pitchFamily="34" charset="-122"/>
                <a:cs typeface="Calibri" pitchFamily="34" charset="-120"/>
              </a:rPr>
              <a:t>→ Actionable recommendations are generated from the predicted state</a:t>
            </a:r>
            <a:endParaRPr lang="en-US" sz="1100" dirty="0"/>
          </a:p>
        </p:txBody>
      </p:sp>
      <p:pic>
        <p:nvPicPr>
          <p:cNvPr id="25" name="Picture 24">
            <a:extLst>
              <a:ext uri="{FF2B5EF4-FFF2-40B4-BE49-F238E27FC236}">
                <a16:creationId xmlns:a16="http://schemas.microsoft.com/office/drawing/2014/main" id="{EABB6AD5-F1D9-F1CC-A4FC-143E6639CF7B}"/>
              </a:ext>
            </a:extLst>
          </p:cNvPr>
          <p:cNvPicPr>
            <a:picLocks noChangeAspect="1"/>
          </p:cNvPicPr>
          <p:nvPr/>
        </p:nvPicPr>
        <p:blipFill>
          <a:blip r:embed="rId3"/>
          <a:stretch>
            <a:fillRect/>
          </a:stretch>
        </p:blipFill>
        <p:spPr>
          <a:xfrm>
            <a:off x="-77001" y="11097"/>
            <a:ext cx="1280160" cy="7204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8CDCBF6D-E28F-E4F3-B751-8FA1E3C3A7C6}"/>
            </a:ext>
          </a:extLst>
        </p:cNvPr>
        <p:cNvGrpSpPr/>
        <p:nvPr/>
      </p:nvGrpSpPr>
      <p:grpSpPr>
        <a:xfrm>
          <a:off x="0" y="0"/>
          <a:ext cx="0" cy="0"/>
          <a:chOff x="0" y="0"/>
          <a:chExt cx="0" cy="0"/>
        </a:xfrm>
      </p:grpSpPr>
      <p:sp>
        <p:nvSpPr>
          <p:cNvPr id="5" name="Shape 0">
            <a:extLst>
              <a:ext uri="{FF2B5EF4-FFF2-40B4-BE49-F238E27FC236}">
                <a16:creationId xmlns:a16="http://schemas.microsoft.com/office/drawing/2014/main" id="{BBE480BE-9562-33DB-01CC-32844CCB2989}"/>
              </a:ext>
            </a:extLst>
          </p:cNvPr>
          <p:cNvSpPr/>
          <p:nvPr/>
        </p:nvSpPr>
        <p:spPr>
          <a:xfrm>
            <a:off x="0" y="0"/>
            <a:ext cx="9144000" cy="685800"/>
          </a:xfrm>
          <a:prstGeom prst="rect">
            <a:avLst/>
          </a:prstGeom>
          <a:solidFill>
            <a:schemeClr val="accent5">
              <a:lumMod val="20000"/>
              <a:lumOff val="80000"/>
            </a:schemeClr>
          </a:solidFill>
          <a:ln w="12700">
            <a:solidFill>
              <a:srgbClr val="2E86AB"/>
            </a:solidFill>
            <a:prstDash val="solid"/>
          </a:ln>
        </p:spPr>
        <p:txBody>
          <a:bodyPr/>
          <a:lstStyle/>
          <a:p>
            <a:endParaRPr lang="en-IN"/>
          </a:p>
        </p:txBody>
      </p:sp>
      <p:sp>
        <p:nvSpPr>
          <p:cNvPr id="6" name="Text 1">
            <a:extLst>
              <a:ext uri="{FF2B5EF4-FFF2-40B4-BE49-F238E27FC236}">
                <a16:creationId xmlns:a16="http://schemas.microsoft.com/office/drawing/2014/main" id="{A7AAAC13-1E4D-E76E-A4DF-B9C83E299876}"/>
              </a:ext>
            </a:extLst>
          </p:cNvPr>
          <p:cNvSpPr/>
          <p:nvPr/>
        </p:nvSpPr>
        <p:spPr>
          <a:xfrm>
            <a:off x="365760" y="0"/>
            <a:ext cx="8412480" cy="685800"/>
          </a:xfrm>
          <a:prstGeom prst="rect">
            <a:avLst/>
          </a:prstGeom>
          <a:noFill/>
          <a:ln/>
        </p:spPr>
        <p:txBody>
          <a:bodyPr wrap="square" rtlCol="0" anchor="ctr"/>
          <a:lstStyle/>
          <a:p>
            <a:pPr marL="0" indent="0" algn="ctr">
              <a:buNone/>
            </a:pPr>
            <a:r>
              <a:rPr lang="en-US" sz="2400" b="1" dirty="0">
                <a:latin typeface="Calibri" pitchFamily="34" charset="0"/>
                <a:ea typeface="Calibri" pitchFamily="34" charset="-122"/>
                <a:cs typeface="Calibri" pitchFamily="34" charset="-120"/>
              </a:rPr>
              <a:t>Publications &amp; Conferences</a:t>
            </a:r>
            <a:endParaRPr lang="en-US" sz="2400" dirty="0"/>
          </a:p>
        </p:txBody>
      </p:sp>
      <p:sp>
        <p:nvSpPr>
          <p:cNvPr id="9" name="Shape 2">
            <a:extLst>
              <a:ext uri="{FF2B5EF4-FFF2-40B4-BE49-F238E27FC236}">
                <a16:creationId xmlns:a16="http://schemas.microsoft.com/office/drawing/2014/main" id="{F1A0684D-AD07-5FA3-698C-1940AEF6BB02}"/>
              </a:ext>
            </a:extLst>
          </p:cNvPr>
          <p:cNvSpPr/>
          <p:nvPr/>
        </p:nvSpPr>
        <p:spPr>
          <a:xfrm>
            <a:off x="274320" y="822960"/>
            <a:ext cx="8595360" cy="1261872"/>
          </a:xfrm>
          <a:prstGeom prst="rect">
            <a:avLst/>
          </a:prstGeom>
          <a:solidFill>
            <a:schemeClr val="accent1">
              <a:lumMod val="75000"/>
            </a:schemeClr>
          </a:solidFill>
          <a:ln w="12700">
            <a:solidFill>
              <a:srgbClr val="2E86AB"/>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3">
            <a:extLst>
              <a:ext uri="{FF2B5EF4-FFF2-40B4-BE49-F238E27FC236}">
                <a16:creationId xmlns:a16="http://schemas.microsoft.com/office/drawing/2014/main" id="{3354361A-F723-CEBC-A043-7D770F21B28E}"/>
              </a:ext>
            </a:extLst>
          </p:cNvPr>
          <p:cNvSpPr/>
          <p:nvPr/>
        </p:nvSpPr>
        <p:spPr>
          <a:xfrm>
            <a:off x="411480" y="1170432"/>
            <a:ext cx="548640" cy="548640"/>
          </a:xfrm>
          <a:prstGeom prst="ellipse">
            <a:avLst/>
          </a:prstGeom>
          <a:solidFill>
            <a:srgbClr val="2E86AB"/>
          </a:solidFill>
          <a:ln w="12700">
            <a:solidFill>
              <a:srgbClr val="2E86AB"/>
            </a:solidFill>
            <a:prstDash val="solid"/>
          </a:ln>
        </p:spPr>
        <p:txBody>
          <a:bodyPr/>
          <a:lstStyle/>
          <a:p>
            <a:endParaRPr lang="en-IN"/>
          </a:p>
        </p:txBody>
      </p:sp>
      <p:sp>
        <p:nvSpPr>
          <p:cNvPr id="11" name="Text 4">
            <a:extLst>
              <a:ext uri="{FF2B5EF4-FFF2-40B4-BE49-F238E27FC236}">
                <a16:creationId xmlns:a16="http://schemas.microsoft.com/office/drawing/2014/main" id="{97E9BBEA-85B4-482E-5BD7-28381AD9BF34}"/>
              </a:ext>
            </a:extLst>
          </p:cNvPr>
          <p:cNvSpPr/>
          <p:nvPr/>
        </p:nvSpPr>
        <p:spPr>
          <a:xfrm>
            <a:off x="411480" y="1170432"/>
            <a:ext cx="548640" cy="548640"/>
          </a:xfrm>
          <a:prstGeom prst="rect">
            <a:avLst/>
          </a:prstGeom>
          <a:noFill/>
          <a:ln/>
        </p:spPr>
        <p:txBody>
          <a:bodyPr wrap="square" rtlCol="0" anchor="ctr"/>
          <a:lstStyle/>
          <a:p>
            <a:pPr marL="0" indent="0" algn="ctr">
              <a:buNone/>
            </a:pPr>
            <a:r>
              <a:rPr lang="en-US" sz="1600" b="1" dirty="0">
                <a:solidFill>
                  <a:srgbClr val="FFFFFF"/>
                </a:solidFill>
              </a:rPr>
              <a:t>1</a:t>
            </a:r>
            <a:endParaRPr lang="en-US" sz="1600" dirty="0"/>
          </a:p>
        </p:txBody>
      </p:sp>
      <p:sp>
        <p:nvSpPr>
          <p:cNvPr id="12" name="Shape 5">
            <a:extLst>
              <a:ext uri="{FF2B5EF4-FFF2-40B4-BE49-F238E27FC236}">
                <a16:creationId xmlns:a16="http://schemas.microsoft.com/office/drawing/2014/main" id="{E8D4D8EC-7156-B211-8EC5-B2443B209044}"/>
              </a:ext>
            </a:extLst>
          </p:cNvPr>
          <p:cNvSpPr/>
          <p:nvPr/>
        </p:nvSpPr>
        <p:spPr>
          <a:xfrm>
            <a:off x="7680960" y="932688"/>
            <a:ext cx="1051560" cy="320040"/>
          </a:xfrm>
          <a:prstGeom prst="rect">
            <a:avLst/>
          </a:prstGeom>
          <a:solidFill>
            <a:srgbClr val="1ABC9C"/>
          </a:solidFill>
          <a:ln w="12700">
            <a:solidFill>
              <a:srgbClr val="1ABC9C"/>
            </a:solidFill>
            <a:prstDash val="solid"/>
          </a:ln>
        </p:spPr>
        <p:txBody>
          <a:bodyPr/>
          <a:lstStyle/>
          <a:p>
            <a:endParaRPr lang="en-IN"/>
          </a:p>
        </p:txBody>
      </p:sp>
      <p:sp>
        <p:nvSpPr>
          <p:cNvPr id="13" name="Text 6">
            <a:extLst>
              <a:ext uri="{FF2B5EF4-FFF2-40B4-BE49-F238E27FC236}">
                <a16:creationId xmlns:a16="http://schemas.microsoft.com/office/drawing/2014/main" id="{DB68B36D-97BC-AB8F-3F46-D7E6F91F2499}"/>
              </a:ext>
            </a:extLst>
          </p:cNvPr>
          <p:cNvSpPr/>
          <p:nvPr/>
        </p:nvSpPr>
        <p:spPr>
          <a:xfrm>
            <a:off x="7680960" y="932688"/>
            <a:ext cx="1051560" cy="320040"/>
          </a:xfrm>
          <a:prstGeom prst="rect">
            <a:avLst/>
          </a:prstGeom>
          <a:noFill/>
          <a:ln/>
        </p:spPr>
        <p:txBody>
          <a:bodyPr wrap="square" rtlCol="0" anchor="ctr"/>
          <a:lstStyle/>
          <a:p>
            <a:pPr marL="0" indent="0" algn="ctr">
              <a:buNone/>
            </a:pPr>
            <a:r>
              <a:rPr lang="en-US" sz="1100" b="1" dirty="0">
                <a:solidFill>
                  <a:srgbClr val="FFFFFF"/>
                </a:solidFill>
              </a:rPr>
              <a:t>Published</a:t>
            </a:r>
            <a:endParaRPr lang="en-US" sz="1100" dirty="0"/>
          </a:p>
        </p:txBody>
      </p:sp>
      <p:sp>
        <p:nvSpPr>
          <p:cNvPr id="14" name="Text 7">
            <a:extLst>
              <a:ext uri="{FF2B5EF4-FFF2-40B4-BE49-F238E27FC236}">
                <a16:creationId xmlns:a16="http://schemas.microsoft.com/office/drawing/2014/main" id="{AF944D32-F46F-A14E-DCC5-6259D2EB288C}"/>
              </a:ext>
            </a:extLst>
          </p:cNvPr>
          <p:cNvSpPr/>
          <p:nvPr/>
        </p:nvSpPr>
        <p:spPr>
          <a:xfrm>
            <a:off x="1097280" y="914400"/>
            <a:ext cx="6446520" cy="475488"/>
          </a:xfrm>
          <a:prstGeom prst="rect">
            <a:avLst/>
          </a:prstGeom>
          <a:noFill/>
          <a:ln/>
        </p:spPr>
        <p:txBody>
          <a:bodyPr wrap="square" rtlCol="0" anchor="ctr"/>
          <a:lstStyle/>
          <a:p>
            <a:pPr marL="0" indent="0">
              <a:buNone/>
            </a:pPr>
            <a:r>
              <a:rPr lang="en-US" sz="1300" b="1" dirty="0">
                <a:solidFill>
                  <a:srgbClr val="D0E8F5"/>
                </a:solidFill>
                <a:latin typeface="Calibri" pitchFamily="34" charset="0"/>
                <a:ea typeface="Calibri" pitchFamily="34" charset="-122"/>
                <a:cs typeface="Calibri" pitchFamily="34" charset="-120"/>
              </a:rPr>
              <a:t>Knowledge-Guided Nested Deep Learning Framework for Explainable Embryo Viability Assessment in ARTs</a:t>
            </a:r>
            <a:endParaRPr lang="en-US" sz="1300" dirty="0"/>
          </a:p>
        </p:txBody>
      </p:sp>
      <p:sp>
        <p:nvSpPr>
          <p:cNvPr id="15" name="Text 8">
            <a:extLst>
              <a:ext uri="{FF2B5EF4-FFF2-40B4-BE49-F238E27FC236}">
                <a16:creationId xmlns:a16="http://schemas.microsoft.com/office/drawing/2014/main" id="{A63EA561-7586-C98D-D21C-F21B0C7C7B0C}"/>
              </a:ext>
            </a:extLst>
          </p:cNvPr>
          <p:cNvSpPr/>
          <p:nvPr/>
        </p:nvSpPr>
        <p:spPr>
          <a:xfrm>
            <a:off x="1097280" y="1417320"/>
            <a:ext cx="7406640" cy="320040"/>
          </a:xfrm>
          <a:prstGeom prst="rect">
            <a:avLst/>
          </a:prstGeom>
          <a:noFill/>
          <a:ln/>
        </p:spPr>
        <p:txBody>
          <a:bodyPr wrap="square" rtlCol="0" anchor="ctr"/>
          <a:lstStyle/>
          <a:p>
            <a:pPr marL="0" indent="0">
              <a:buNone/>
            </a:pPr>
            <a:r>
              <a:rPr lang="en-US" sz="1200" i="1" dirty="0">
                <a:solidFill>
                  <a:srgbClr val="7DCEA0"/>
                </a:solidFill>
                <a:latin typeface="Calibri" pitchFamily="34" charset="0"/>
                <a:ea typeface="Calibri" pitchFamily="34" charset="-122"/>
                <a:cs typeface="Calibri" pitchFamily="34" charset="-120"/>
              </a:rPr>
              <a:t>2025 IEEE Silchar Subsection Conference (SILICON)</a:t>
            </a:r>
            <a:endParaRPr lang="en-US" sz="1200" dirty="0"/>
          </a:p>
        </p:txBody>
      </p:sp>
      <p:sp>
        <p:nvSpPr>
          <p:cNvPr id="16" name="Text 9">
            <a:extLst>
              <a:ext uri="{FF2B5EF4-FFF2-40B4-BE49-F238E27FC236}">
                <a16:creationId xmlns:a16="http://schemas.microsoft.com/office/drawing/2014/main" id="{2C353833-68F6-ACEC-A0D2-2736A8B5CD76}"/>
              </a:ext>
            </a:extLst>
          </p:cNvPr>
          <p:cNvSpPr/>
          <p:nvPr/>
        </p:nvSpPr>
        <p:spPr>
          <a:xfrm>
            <a:off x="1097280" y="1737360"/>
            <a:ext cx="7406640" cy="25603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DOI: 10.1109/SILICON67893.2025.11327048</a:t>
            </a:r>
            <a:endParaRPr lang="en-US" sz="1100" dirty="0"/>
          </a:p>
        </p:txBody>
      </p:sp>
      <p:sp>
        <p:nvSpPr>
          <p:cNvPr id="17" name="Shape 10">
            <a:extLst>
              <a:ext uri="{FF2B5EF4-FFF2-40B4-BE49-F238E27FC236}">
                <a16:creationId xmlns:a16="http://schemas.microsoft.com/office/drawing/2014/main" id="{3B89880E-F814-F11B-3B99-3F163853551C}"/>
              </a:ext>
            </a:extLst>
          </p:cNvPr>
          <p:cNvSpPr/>
          <p:nvPr/>
        </p:nvSpPr>
        <p:spPr>
          <a:xfrm>
            <a:off x="274320" y="2194560"/>
            <a:ext cx="8595360" cy="1261872"/>
          </a:xfrm>
          <a:prstGeom prst="rect">
            <a:avLst/>
          </a:prstGeom>
          <a:solidFill>
            <a:schemeClr val="accent1">
              <a:lumMod val="75000"/>
            </a:schemeClr>
          </a:solidFill>
          <a:ln w="12700">
            <a:solidFill>
              <a:srgbClr val="2E86AB"/>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1">
            <a:extLst>
              <a:ext uri="{FF2B5EF4-FFF2-40B4-BE49-F238E27FC236}">
                <a16:creationId xmlns:a16="http://schemas.microsoft.com/office/drawing/2014/main" id="{154DF6BE-5185-780F-B8F7-FDB031A99FAD}"/>
              </a:ext>
            </a:extLst>
          </p:cNvPr>
          <p:cNvSpPr/>
          <p:nvPr/>
        </p:nvSpPr>
        <p:spPr>
          <a:xfrm>
            <a:off x="411480" y="2542032"/>
            <a:ext cx="548640" cy="548640"/>
          </a:xfrm>
          <a:prstGeom prst="ellipse">
            <a:avLst/>
          </a:prstGeom>
          <a:solidFill>
            <a:srgbClr val="2E86AB"/>
          </a:solidFill>
          <a:ln w="12700">
            <a:solidFill>
              <a:srgbClr val="2E86AB"/>
            </a:solidFill>
            <a:prstDash val="solid"/>
          </a:ln>
        </p:spPr>
        <p:txBody>
          <a:bodyPr/>
          <a:lstStyle/>
          <a:p>
            <a:endParaRPr lang="en-IN"/>
          </a:p>
        </p:txBody>
      </p:sp>
      <p:sp>
        <p:nvSpPr>
          <p:cNvPr id="19" name="Text 12">
            <a:extLst>
              <a:ext uri="{FF2B5EF4-FFF2-40B4-BE49-F238E27FC236}">
                <a16:creationId xmlns:a16="http://schemas.microsoft.com/office/drawing/2014/main" id="{74123B50-3C10-A722-C108-542AE23180ED}"/>
              </a:ext>
            </a:extLst>
          </p:cNvPr>
          <p:cNvSpPr/>
          <p:nvPr/>
        </p:nvSpPr>
        <p:spPr>
          <a:xfrm>
            <a:off x="411480" y="2542032"/>
            <a:ext cx="548640" cy="548640"/>
          </a:xfrm>
          <a:prstGeom prst="rect">
            <a:avLst/>
          </a:prstGeom>
          <a:noFill/>
          <a:ln/>
        </p:spPr>
        <p:txBody>
          <a:bodyPr wrap="square" rtlCol="0" anchor="ctr"/>
          <a:lstStyle/>
          <a:p>
            <a:pPr marL="0" indent="0" algn="ctr">
              <a:buNone/>
            </a:pPr>
            <a:r>
              <a:rPr lang="en-US" sz="1600" b="1" dirty="0">
                <a:solidFill>
                  <a:srgbClr val="FFFFFF"/>
                </a:solidFill>
              </a:rPr>
              <a:t>2</a:t>
            </a:r>
            <a:endParaRPr lang="en-US" sz="1600" dirty="0"/>
          </a:p>
        </p:txBody>
      </p:sp>
      <p:sp>
        <p:nvSpPr>
          <p:cNvPr id="20" name="Shape 13">
            <a:extLst>
              <a:ext uri="{FF2B5EF4-FFF2-40B4-BE49-F238E27FC236}">
                <a16:creationId xmlns:a16="http://schemas.microsoft.com/office/drawing/2014/main" id="{7E7F80B8-E4F0-8E20-52E6-D5E97A05D6B8}"/>
              </a:ext>
            </a:extLst>
          </p:cNvPr>
          <p:cNvSpPr/>
          <p:nvPr/>
        </p:nvSpPr>
        <p:spPr>
          <a:xfrm>
            <a:off x="7680960" y="2304288"/>
            <a:ext cx="1051560" cy="320040"/>
          </a:xfrm>
          <a:prstGeom prst="rect">
            <a:avLst/>
          </a:prstGeom>
          <a:solidFill>
            <a:srgbClr val="1ABC9C"/>
          </a:solidFill>
          <a:ln w="12700">
            <a:solidFill>
              <a:srgbClr val="1ABC9C"/>
            </a:solidFill>
            <a:prstDash val="solid"/>
          </a:ln>
        </p:spPr>
        <p:txBody>
          <a:bodyPr/>
          <a:lstStyle/>
          <a:p>
            <a:endParaRPr lang="en-IN"/>
          </a:p>
        </p:txBody>
      </p:sp>
      <p:sp>
        <p:nvSpPr>
          <p:cNvPr id="21" name="Text 14">
            <a:extLst>
              <a:ext uri="{FF2B5EF4-FFF2-40B4-BE49-F238E27FC236}">
                <a16:creationId xmlns:a16="http://schemas.microsoft.com/office/drawing/2014/main" id="{CBDC8831-D7D8-D421-0FD1-CB0BED05393D}"/>
              </a:ext>
            </a:extLst>
          </p:cNvPr>
          <p:cNvSpPr/>
          <p:nvPr/>
        </p:nvSpPr>
        <p:spPr>
          <a:xfrm>
            <a:off x="7680960" y="2304288"/>
            <a:ext cx="1051560" cy="320040"/>
          </a:xfrm>
          <a:prstGeom prst="rect">
            <a:avLst/>
          </a:prstGeom>
          <a:noFill/>
          <a:ln/>
        </p:spPr>
        <p:txBody>
          <a:bodyPr wrap="square" rtlCol="0" anchor="ctr"/>
          <a:lstStyle/>
          <a:p>
            <a:pPr marL="0" indent="0" algn="ctr">
              <a:buNone/>
            </a:pPr>
            <a:r>
              <a:rPr lang="en-US" sz="1100" b="1" dirty="0">
                <a:solidFill>
                  <a:srgbClr val="FFFFFF"/>
                </a:solidFill>
              </a:rPr>
              <a:t>Published</a:t>
            </a:r>
            <a:endParaRPr lang="en-US" sz="1100" dirty="0"/>
          </a:p>
        </p:txBody>
      </p:sp>
      <p:sp>
        <p:nvSpPr>
          <p:cNvPr id="22" name="Text 15">
            <a:extLst>
              <a:ext uri="{FF2B5EF4-FFF2-40B4-BE49-F238E27FC236}">
                <a16:creationId xmlns:a16="http://schemas.microsoft.com/office/drawing/2014/main" id="{7BE8888C-3B38-BB44-266D-72D9D5A750F5}"/>
              </a:ext>
            </a:extLst>
          </p:cNvPr>
          <p:cNvSpPr/>
          <p:nvPr/>
        </p:nvSpPr>
        <p:spPr>
          <a:xfrm>
            <a:off x="1097280" y="2286000"/>
            <a:ext cx="6446520" cy="475488"/>
          </a:xfrm>
          <a:prstGeom prst="rect">
            <a:avLst/>
          </a:prstGeom>
          <a:noFill/>
          <a:ln/>
        </p:spPr>
        <p:txBody>
          <a:bodyPr wrap="square" rtlCol="0" anchor="ctr"/>
          <a:lstStyle/>
          <a:p>
            <a:pPr marL="0" indent="0">
              <a:buNone/>
            </a:pPr>
            <a:r>
              <a:rPr lang="en-US" sz="1300" b="1" dirty="0">
                <a:solidFill>
                  <a:srgbClr val="D0E8F5"/>
                </a:solidFill>
                <a:latin typeface="Calibri" pitchFamily="34" charset="0"/>
                <a:ea typeface="Calibri" pitchFamily="34" charset="-122"/>
                <a:cs typeface="Calibri" pitchFamily="34" charset="-120"/>
              </a:rPr>
              <a:t>MindWatch: Next-Generation Wearable Framework for Stress Monitoring and Prediction</a:t>
            </a:r>
            <a:endParaRPr lang="en-US" sz="1300" dirty="0"/>
          </a:p>
        </p:txBody>
      </p:sp>
      <p:sp>
        <p:nvSpPr>
          <p:cNvPr id="23" name="Text 16">
            <a:extLst>
              <a:ext uri="{FF2B5EF4-FFF2-40B4-BE49-F238E27FC236}">
                <a16:creationId xmlns:a16="http://schemas.microsoft.com/office/drawing/2014/main" id="{3BCFBB89-3B34-D369-3BF7-C7388D6EBDFE}"/>
              </a:ext>
            </a:extLst>
          </p:cNvPr>
          <p:cNvSpPr/>
          <p:nvPr/>
        </p:nvSpPr>
        <p:spPr>
          <a:xfrm>
            <a:off x="1097280" y="2788920"/>
            <a:ext cx="7406640" cy="320040"/>
          </a:xfrm>
          <a:prstGeom prst="rect">
            <a:avLst/>
          </a:prstGeom>
          <a:noFill/>
          <a:ln/>
        </p:spPr>
        <p:txBody>
          <a:bodyPr wrap="square" rtlCol="0" anchor="ctr"/>
          <a:lstStyle/>
          <a:p>
            <a:pPr marL="0" indent="0">
              <a:buNone/>
            </a:pPr>
            <a:r>
              <a:rPr lang="en-US" sz="1200" i="1" dirty="0">
                <a:solidFill>
                  <a:srgbClr val="7DCEA0"/>
                </a:solidFill>
                <a:latin typeface="Calibri" pitchFamily="34" charset="0"/>
                <a:ea typeface="Calibri" pitchFamily="34" charset="-122"/>
                <a:cs typeface="Calibri" pitchFamily="34" charset="-120"/>
              </a:rPr>
              <a:t>2025 13th IEEE International Conference on Intelligent Embedded Systems (IEMECON)</a:t>
            </a:r>
            <a:endParaRPr lang="en-US" sz="1200" dirty="0"/>
          </a:p>
        </p:txBody>
      </p:sp>
      <p:sp>
        <p:nvSpPr>
          <p:cNvPr id="24" name="Text 17">
            <a:extLst>
              <a:ext uri="{FF2B5EF4-FFF2-40B4-BE49-F238E27FC236}">
                <a16:creationId xmlns:a16="http://schemas.microsoft.com/office/drawing/2014/main" id="{E58E6383-E73E-8DAE-170B-B2225CFA29F3}"/>
              </a:ext>
            </a:extLst>
          </p:cNvPr>
          <p:cNvSpPr/>
          <p:nvPr/>
        </p:nvSpPr>
        <p:spPr>
          <a:xfrm>
            <a:off x="1097280" y="3108960"/>
            <a:ext cx="7406640" cy="25603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DOI: 10.1109/IEMECON69302.2025.1136581</a:t>
            </a:r>
            <a:endParaRPr lang="en-US" sz="1100" dirty="0"/>
          </a:p>
        </p:txBody>
      </p:sp>
      <p:sp>
        <p:nvSpPr>
          <p:cNvPr id="25" name="Shape 18">
            <a:extLst>
              <a:ext uri="{FF2B5EF4-FFF2-40B4-BE49-F238E27FC236}">
                <a16:creationId xmlns:a16="http://schemas.microsoft.com/office/drawing/2014/main" id="{8069AD3F-8ED8-EA5F-45E3-1845406FEB08}"/>
              </a:ext>
            </a:extLst>
          </p:cNvPr>
          <p:cNvSpPr/>
          <p:nvPr/>
        </p:nvSpPr>
        <p:spPr>
          <a:xfrm>
            <a:off x="274320" y="3566160"/>
            <a:ext cx="8595360" cy="1261872"/>
          </a:xfrm>
          <a:prstGeom prst="rect">
            <a:avLst/>
          </a:prstGeom>
          <a:solidFill>
            <a:srgbClr val="0F2A3C"/>
          </a:solidFill>
          <a:ln w="12700">
            <a:solidFill>
              <a:srgbClr val="2E86AB"/>
            </a:solidFill>
            <a:prstDash val="solid"/>
          </a:ln>
          <a:effectLst>
            <a:outerShdw blurRad="101600" dist="38100" dir="8100000" algn="bl" rotWithShape="0">
              <a:srgbClr val="000000">
                <a:alpha val="12000"/>
              </a:srgbClr>
            </a:outerShdw>
          </a:effectLst>
        </p:spPr>
        <p:txBody>
          <a:bodyPr/>
          <a:lstStyle/>
          <a:p>
            <a:endParaRPr lang="en-IN"/>
          </a:p>
        </p:txBody>
      </p:sp>
      <p:sp>
        <p:nvSpPr>
          <p:cNvPr id="26" name="Shape 19">
            <a:extLst>
              <a:ext uri="{FF2B5EF4-FFF2-40B4-BE49-F238E27FC236}">
                <a16:creationId xmlns:a16="http://schemas.microsoft.com/office/drawing/2014/main" id="{D40985B5-B9E4-7D8B-3BB9-92713CC0DC98}"/>
              </a:ext>
            </a:extLst>
          </p:cNvPr>
          <p:cNvSpPr/>
          <p:nvPr/>
        </p:nvSpPr>
        <p:spPr>
          <a:xfrm>
            <a:off x="411480" y="3913632"/>
            <a:ext cx="548640" cy="548640"/>
          </a:xfrm>
          <a:prstGeom prst="ellipse">
            <a:avLst/>
          </a:prstGeom>
          <a:solidFill>
            <a:srgbClr val="2E86AB"/>
          </a:solidFill>
          <a:ln w="12700">
            <a:solidFill>
              <a:srgbClr val="2E86AB"/>
            </a:solidFill>
            <a:prstDash val="solid"/>
          </a:ln>
        </p:spPr>
        <p:txBody>
          <a:bodyPr/>
          <a:lstStyle/>
          <a:p>
            <a:endParaRPr lang="en-IN"/>
          </a:p>
        </p:txBody>
      </p:sp>
      <p:sp>
        <p:nvSpPr>
          <p:cNvPr id="27" name="Text 20">
            <a:extLst>
              <a:ext uri="{FF2B5EF4-FFF2-40B4-BE49-F238E27FC236}">
                <a16:creationId xmlns:a16="http://schemas.microsoft.com/office/drawing/2014/main" id="{8471A971-1187-B820-1D32-7BBACFDF10AB}"/>
              </a:ext>
            </a:extLst>
          </p:cNvPr>
          <p:cNvSpPr/>
          <p:nvPr/>
        </p:nvSpPr>
        <p:spPr>
          <a:xfrm>
            <a:off x="411480" y="3913632"/>
            <a:ext cx="548640" cy="548640"/>
          </a:xfrm>
          <a:prstGeom prst="rect">
            <a:avLst/>
          </a:prstGeom>
          <a:noFill/>
          <a:ln/>
        </p:spPr>
        <p:txBody>
          <a:bodyPr wrap="square" rtlCol="0" anchor="ctr"/>
          <a:lstStyle/>
          <a:p>
            <a:pPr marL="0" indent="0" algn="ctr">
              <a:buNone/>
            </a:pPr>
            <a:r>
              <a:rPr lang="en-US" sz="1600" b="1" dirty="0">
                <a:solidFill>
                  <a:srgbClr val="FFFFFF"/>
                </a:solidFill>
              </a:rPr>
              <a:t>3</a:t>
            </a:r>
            <a:endParaRPr lang="en-US" sz="1600" dirty="0"/>
          </a:p>
        </p:txBody>
      </p:sp>
      <p:sp>
        <p:nvSpPr>
          <p:cNvPr id="28" name="Shape 21">
            <a:extLst>
              <a:ext uri="{FF2B5EF4-FFF2-40B4-BE49-F238E27FC236}">
                <a16:creationId xmlns:a16="http://schemas.microsoft.com/office/drawing/2014/main" id="{8B4B27CB-F1B0-DD72-6845-E345BED7F228}"/>
              </a:ext>
            </a:extLst>
          </p:cNvPr>
          <p:cNvSpPr/>
          <p:nvPr/>
        </p:nvSpPr>
        <p:spPr>
          <a:xfrm>
            <a:off x="7680960" y="3675888"/>
            <a:ext cx="1051560" cy="320040"/>
          </a:xfrm>
          <a:prstGeom prst="rect">
            <a:avLst/>
          </a:prstGeom>
          <a:solidFill>
            <a:srgbClr val="F39C12"/>
          </a:solidFill>
          <a:ln w="12700">
            <a:solidFill>
              <a:srgbClr val="F39C12"/>
            </a:solidFill>
            <a:prstDash val="solid"/>
          </a:ln>
        </p:spPr>
        <p:txBody>
          <a:bodyPr/>
          <a:lstStyle/>
          <a:p>
            <a:endParaRPr lang="en-IN"/>
          </a:p>
        </p:txBody>
      </p:sp>
      <p:sp>
        <p:nvSpPr>
          <p:cNvPr id="29" name="Text 22">
            <a:extLst>
              <a:ext uri="{FF2B5EF4-FFF2-40B4-BE49-F238E27FC236}">
                <a16:creationId xmlns:a16="http://schemas.microsoft.com/office/drawing/2014/main" id="{782B7429-310C-237F-CFB0-96FF3A2478A9}"/>
              </a:ext>
            </a:extLst>
          </p:cNvPr>
          <p:cNvSpPr/>
          <p:nvPr/>
        </p:nvSpPr>
        <p:spPr>
          <a:xfrm>
            <a:off x="7680960" y="3675888"/>
            <a:ext cx="1051560" cy="320040"/>
          </a:xfrm>
          <a:prstGeom prst="rect">
            <a:avLst/>
          </a:prstGeom>
          <a:noFill/>
          <a:ln/>
        </p:spPr>
        <p:txBody>
          <a:bodyPr wrap="square" rtlCol="0" anchor="ctr"/>
          <a:lstStyle/>
          <a:p>
            <a:pPr marL="0" indent="0" algn="ctr">
              <a:buNone/>
            </a:pPr>
            <a:r>
              <a:rPr lang="en-US" sz="1100" b="1" dirty="0">
                <a:solidFill>
                  <a:srgbClr val="FFFFFF"/>
                </a:solidFill>
              </a:rPr>
              <a:t>In Preparation</a:t>
            </a:r>
            <a:endParaRPr lang="en-US" sz="1100" dirty="0"/>
          </a:p>
        </p:txBody>
      </p:sp>
      <p:sp>
        <p:nvSpPr>
          <p:cNvPr id="30" name="Text 23">
            <a:extLst>
              <a:ext uri="{FF2B5EF4-FFF2-40B4-BE49-F238E27FC236}">
                <a16:creationId xmlns:a16="http://schemas.microsoft.com/office/drawing/2014/main" id="{1BCB7FE8-E524-1201-F971-F4DE59727E19}"/>
              </a:ext>
            </a:extLst>
          </p:cNvPr>
          <p:cNvSpPr/>
          <p:nvPr/>
        </p:nvSpPr>
        <p:spPr>
          <a:xfrm>
            <a:off x="1097280" y="3657600"/>
            <a:ext cx="6446520" cy="475488"/>
          </a:xfrm>
          <a:prstGeom prst="rect">
            <a:avLst/>
          </a:prstGeom>
          <a:noFill/>
          <a:ln/>
        </p:spPr>
        <p:txBody>
          <a:bodyPr wrap="square" rtlCol="0" anchor="ctr"/>
          <a:lstStyle/>
          <a:p>
            <a:pPr marL="0" indent="0">
              <a:buNone/>
            </a:pPr>
            <a:r>
              <a:rPr lang="en-US" sz="1300" b="1" dirty="0">
                <a:solidFill>
                  <a:srgbClr val="D0E8F5"/>
                </a:solidFill>
                <a:latin typeface="Calibri" pitchFamily="34" charset="0"/>
                <a:ea typeface="Calibri" pitchFamily="34" charset="-122"/>
                <a:cs typeface="Calibri" pitchFamily="34" charset="-120"/>
              </a:rPr>
              <a:t>Smart Emotional Wellness Analysis Utilizing Multi-Sensor Biological Information</a:t>
            </a:r>
            <a:endParaRPr lang="en-US" sz="1300" dirty="0"/>
          </a:p>
        </p:txBody>
      </p:sp>
      <p:sp>
        <p:nvSpPr>
          <p:cNvPr id="31" name="Text 24">
            <a:extLst>
              <a:ext uri="{FF2B5EF4-FFF2-40B4-BE49-F238E27FC236}">
                <a16:creationId xmlns:a16="http://schemas.microsoft.com/office/drawing/2014/main" id="{1E1D862E-F80E-493C-40CB-890B366C2F38}"/>
              </a:ext>
            </a:extLst>
          </p:cNvPr>
          <p:cNvSpPr/>
          <p:nvPr/>
        </p:nvSpPr>
        <p:spPr>
          <a:xfrm>
            <a:off x="1097280" y="4160520"/>
            <a:ext cx="7406640" cy="320040"/>
          </a:xfrm>
          <a:prstGeom prst="rect">
            <a:avLst/>
          </a:prstGeom>
          <a:noFill/>
          <a:ln/>
        </p:spPr>
        <p:txBody>
          <a:bodyPr wrap="square" rtlCol="0" anchor="ctr"/>
          <a:lstStyle/>
          <a:p>
            <a:pPr marL="0" indent="0">
              <a:buNone/>
            </a:pPr>
            <a:r>
              <a:rPr lang="en-US" sz="1200" i="1" dirty="0">
                <a:solidFill>
                  <a:srgbClr val="7DCEA0"/>
                </a:solidFill>
                <a:latin typeface="Calibri" pitchFamily="34" charset="0"/>
                <a:ea typeface="Calibri" pitchFamily="34" charset="-122"/>
                <a:cs typeface="Calibri" pitchFamily="34" charset="-120"/>
              </a:rPr>
              <a:t>To be submitted to IEEE CIACON 2026</a:t>
            </a:r>
            <a:endParaRPr lang="en-US" sz="1200" dirty="0"/>
          </a:p>
        </p:txBody>
      </p:sp>
      <p:sp>
        <p:nvSpPr>
          <p:cNvPr id="32" name="Text 25">
            <a:extLst>
              <a:ext uri="{FF2B5EF4-FFF2-40B4-BE49-F238E27FC236}">
                <a16:creationId xmlns:a16="http://schemas.microsoft.com/office/drawing/2014/main" id="{27DF768B-F258-5754-0321-7904EE8FB25B}"/>
              </a:ext>
            </a:extLst>
          </p:cNvPr>
          <p:cNvSpPr/>
          <p:nvPr/>
        </p:nvSpPr>
        <p:spPr>
          <a:xfrm>
            <a:off x="1097280" y="4480560"/>
            <a:ext cx="7406640" cy="25603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Manuscript in preparation</a:t>
            </a:r>
            <a:endParaRPr lang="en-US" sz="1100" dirty="0"/>
          </a:p>
        </p:txBody>
      </p:sp>
      <p:pic>
        <p:nvPicPr>
          <p:cNvPr id="33" name="Picture 32">
            <a:extLst>
              <a:ext uri="{FF2B5EF4-FFF2-40B4-BE49-F238E27FC236}">
                <a16:creationId xmlns:a16="http://schemas.microsoft.com/office/drawing/2014/main" id="{11EC2042-D3A0-F63B-9274-CACF85702DC5}"/>
              </a:ext>
            </a:extLst>
          </p:cNvPr>
          <p:cNvPicPr>
            <a:picLocks noChangeAspect="1"/>
          </p:cNvPicPr>
          <p:nvPr/>
        </p:nvPicPr>
        <p:blipFill>
          <a:blip r:embed="rId3"/>
          <a:stretch>
            <a:fillRect/>
          </a:stretch>
        </p:blipFill>
        <p:spPr>
          <a:xfrm>
            <a:off x="8191940" y="0"/>
            <a:ext cx="898279" cy="733163"/>
          </a:xfrm>
          <a:prstGeom prst="rect">
            <a:avLst/>
          </a:prstGeom>
        </p:spPr>
      </p:pic>
      <p:pic>
        <p:nvPicPr>
          <p:cNvPr id="34" name="Picture 33">
            <a:extLst>
              <a:ext uri="{FF2B5EF4-FFF2-40B4-BE49-F238E27FC236}">
                <a16:creationId xmlns:a16="http://schemas.microsoft.com/office/drawing/2014/main" id="{09FDFCDA-CC22-A512-9911-E6408E1FFADC}"/>
              </a:ext>
            </a:extLst>
          </p:cNvPr>
          <p:cNvPicPr>
            <a:picLocks noChangeAspect="1"/>
          </p:cNvPicPr>
          <p:nvPr/>
        </p:nvPicPr>
        <p:blipFill>
          <a:blip r:embed="rId4"/>
          <a:stretch>
            <a:fillRect/>
          </a:stretch>
        </p:blipFill>
        <p:spPr>
          <a:xfrm>
            <a:off x="-77001" y="11097"/>
            <a:ext cx="1280160" cy="720423"/>
          </a:xfrm>
          <a:prstGeom prst="rect">
            <a:avLst/>
          </a:prstGeom>
        </p:spPr>
      </p:pic>
    </p:spTree>
    <p:extLst>
      <p:ext uri="{BB962C8B-B14F-4D97-AF65-F5344CB8AC3E}">
        <p14:creationId xmlns:p14="http://schemas.microsoft.com/office/powerpoint/2010/main" val="305373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6B4CAF26-D18E-D35A-EC93-CA5725B9F96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E688AB24-A739-4BBC-EC99-4701FCCF2A4E}"/>
              </a:ext>
            </a:extLst>
          </p:cNvPr>
          <p:cNvSpPr/>
          <p:nvPr/>
        </p:nvSpPr>
        <p:spPr>
          <a:xfrm>
            <a:off x="0" y="0"/>
            <a:ext cx="9144000" cy="685800"/>
          </a:xfrm>
          <a:prstGeom prst="rect">
            <a:avLst/>
          </a:prstGeom>
          <a:solidFill>
            <a:schemeClr val="accent5">
              <a:lumMod val="20000"/>
              <a:lumOff val="80000"/>
            </a:schemeClr>
          </a:solidFill>
          <a:ln w="12700">
            <a:solidFill>
              <a:srgbClr val="2E86AB"/>
            </a:solidFill>
            <a:prstDash val="solid"/>
          </a:ln>
        </p:spPr>
        <p:txBody>
          <a:bodyPr/>
          <a:lstStyle/>
          <a:p>
            <a:endParaRPr lang="en-IN"/>
          </a:p>
        </p:txBody>
      </p:sp>
      <p:sp>
        <p:nvSpPr>
          <p:cNvPr id="3" name="Text 1">
            <a:extLst>
              <a:ext uri="{FF2B5EF4-FFF2-40B4-BE49-F238E27FC236}">
                <a16:creationId xmlns:a16="http://schemas.microsoft.com/office/drawing/2014/main" id="{F24C6219-9BD4-5081-5DF3-6CF2920AB5D0}"/>
              </a:ext>
            </a:extLst>
          </p:cNvPr>
          <p:cNvSpPr/>
          <p:nvPr/>
        </p:nvSpPr>
        <p:spPr>
          <a:xfrm>
            <a:off x="365760" y="0"/>
            <a:ext cx="8412480" cy="685800"/>
          </a:xfrm>
          <a:prstGeom prst="rect">
            <a:avLst/>
          </a:prstGeom>
          <a:noFill/>
          <a:ln/>
        </p:spPr>
        <p:txBody>
          <a:bodyPr wrap="square" rtlCol="0" anchor="ctr"/>
          <a:lstStyle/>
          <a:p>
            <a:pPr algn="ctr"/>
            <a:r>
              <a:rPr lang="en-IN" sz="2400" b="1" dirty="0">
                <a:latin typeface="Times New Roman" panose="02020603050405020304" pitchFamily="18" charset="0"/>
                <a:cs typeface="Times New Roman" panose="02020603050405020304" pitchFamily="18" charset="0"/>
              </a:rPr>
              <a:t>CONCLUSION</a:t>
            </a:r>
            <a:endParaRPr lang="en-US" sz="2400" b="1" dirty="0">
              <a:latin typeface="Times New Roman" panose="02020603050405020304" pitchFamily="18" charset="0"/>
              <a:cs typeface="Times New Roman" panose="02020603050405020304" pitchFamily="18" charset="0"/>
            </a:endParaRPr>
          </a:p>
        </p:txBody>
      </p:sp>
      <p:pic>
        <p:nvPicPr>
          <p:cNvPr id="46" name="Picture 45">
            <a:extLst>
              <a:ext uri="{FF2B5EF4-FFF2-40B4-BE49-F238E27FC236}">
                <a16:creationId xmlns:a16="http://schemas.microsoft.com/office/drawing/2014/main" id="{DD74079B-9328-6FE5-C69A-6F89CA5DB3A6}"/>
              </a:ext>
            </a:extLst>
          </p:cNvPr>
          <p:cNvPicPr>
            <a:picLocks noChangeAspect="1"/>
          </p:cNvPicPr>
          <p:nvPr/>
        </p:nvPicPr>
        <p:blipFill>
          <a:blip r:embed="rId3"/>
          <a:stretch>
            <a:fillRect/>
          </a:stretch>
        </p:blipFill>
        <p:spPr>
          <a:xfrm>
            <a:off x="8191940" y="0"/>
            <a:ext cx="898279" cy="733163"/>
          </a:xfrm>
          <a:prstGeom prst="rect">
            <a:avLst/>
          </a:prstGeom>
        </p:spPr>
      </p:pic>
      <p:pic>
        <p:nvPicPr>
          <p:cNvPr id="47" name="Picture 46">
            <a:extLst>
              <a:ext uri="{FF2B5EF4-FFF2-40B4-BE49-F238E27FC236}">
                <a16:creationId xmlns:a16="http://schemas.microsoft.com/office/drawing/2014/main" id="{05A934EA-291B-8F1F-64AD-B7A0803C6C8F}"/>
              </a:ext>
            </a:extLst>
          </p:cNvPr>
          <p:cNvPicPr>
            <a:picLocks noChangeAspect="1"/>
          </p:cNvPicPr>
          <p:nvPr/>
        </p:nvPicPr>
        <p:blipFill>
          <a:blip r:embed="rId4"/>
          <a:stretch>
            <a:fillRect/>
          </a:stretch>
        </p:blipFill>
        <p:spPr>
          <a:xfrm>
            <a:off x="-77001" y="11097"/>
            <a:ext cx="1280160" cy="720423"/>
          </a:xfrm>
          <a:prstGeom prst="rect">
            <a:avLst/>
          </a:prstGeom>
        </p:spPr>
      </p:pic>
      <p:sp>
        <p:nvSpPr>
          <p:cNvPr id="5" name="TextBox 4">
            <a:extLst>
              <a:ext uri="{FF2B5EF4-FFF2-40B4-BE49-F238E27FC236}">
                <a16:creationId xmlns:a16="http://schemas.microsoft.com/office/drawing/2014/main" id="{09C0D04A-0DFA-B3C9-8BE0-03BD4B1CB1FB}"/>
              </a:ext>
            </a:extLst>
          </p:cNvPr>
          <p:cNvSpPr txBox="1"/>
          <p:nvPr/>
        </p:nvSpPr>
        <p:spPr>
          <a:xfrm>
            <a:off x="563079" y="1785257"/>
            <a:ext cx="7808685" cy="2031325"/>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This thesis looked into how artificial intelligence can help solve major challenges in healthcare using three connected systems: embryo quality assessment, stress detection, and real-time emotion recognition. Each framework aimed to tackle real issues like data imbalance, noise in physiological signals, and the need for clear outcomes. The results show that AI methods, along with domain knowledge and proper data processing techniques, can offer reliable and meaningful solutions for practical healthcare uses.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616640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C9E4AB1F-7841-8903-CA9B-62FDB9D01D9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A120DD8-5BCC-EBDD-8880-F6E3230B098C}"/>
              </a:ext>
            </a:extLst>
          </p:cNvPr>
          <p:cNvSpPr/>
          <p:nvPr/>
        </p:nvSpPr>
        <p:spPr>
          <a:xfrm>
            <a:off x="0" y="0"/>
            <a:ext cx="9144000" cy="685800"/>
          </a:xfrm>
          <a:prstGeom prst="rect">
            <a:avLst/>
          </a:prstGeom>
          <a:solidFill>
            <a:schemeClr val="accent5">
              <a:lumMod val="20000"/>
              <a:lumOff val="80000"/>
            </a:schemeClr>
          </a:solidFill>
          <a:ln w="12700">
            <a:solidFill>
              <a:srgbClr val="2E86AB"/>
            </a:solidFill>
            <a:prstDash val="solid"/>
          </a:ln>
        </p:spPr>
        <p:txBody>
          <a:bodyPr/>
          <a:lstStyle/>
          <a:p>
            <a:endParaRPr lang="en-IN"/>
          </a:p>
        </p:txBody>
      </p:sp>
      <p:sp>
        <p:nvSpPr>
          <p:cNvPr id="3" name="Text 1">
            <a:extLst>
              <a:ext uri="{FF2B5EF4-FFF2-40B4-BE49-F238E27FC236}">
                <a16:creationId xmlns:a16="http://schemas.microsoft.com/office/drawing/2014/main" id="{2852E988-E477-43FD-961E-373623072F0E}"/>
              </a:ext>
            </a:extLst>
          </p:cNvPr>
          <p:cNvSpPr/>
          <p:nvPr/>
        </p:nvSpPr>
        <p:spPr>
          <a:xfrm>
            <a:off x="365760" y="0"/>
            <a:ext cx="8412480" cy="685800"/>
          </a:xfrm>
          <a:prstGeom prst="rect">
            <a:avLst/>
          </a:prstGeom>
          <a:noFill/>
          <a:ln/>
        </p:spPr>
        <p:txBody>
          <a:bodyPr wrap="square" rtlCol="0" anchor="ctr"/>
          <a:lstStyle/>
          <a:p>
            <a:pPr marL="0" indent="0" algn="ctr">
              <a:buNone/>
            </a:pPr>
            <a:r>
              <a:rPr lang="en-US" sz="2400" b="1" dirty="0">
                <a:latin typeface="Calibri" pitchFamily="34" charset="0"/>
                <a:ea typeface="Calibri" pitchFamily="34" charset="-122"/>
                <a:cs typeface="Calibri" pitchFamily="34" charset="-120"/>
              </a:rPr>
              <a:t>Future Scope &amp; Roadmap</a:t>
            </a:r>
            <a:endParaRPr lang="en-US" sz="2400" dirty="0"/>
          </a:p>
        </p:txBody>
      </p:sp>
      <p:sp>
        <p:nvSpPr>
          <p:cNvPr id="8" name="Text 4">
            <a:extLst>
              <a:ext uri="{FF2B5EF4-FFF2-40B4-BE49-F238E27FC236}">
                <a16:creationId xmlns:a16="http://schemas.microsoft.com/office/drawing/2014/main" id="{CA13B38B-0F3C-2981-D0C0-8B33F0ECCBF5}"/>
              </a:ext>
            </a:extLst>
          </p:cNvPr>
          <p:cNvSpPr/>
          <p:nvPr/>
        </p:nvSpPr>
        <p:spPr>
          <a:xfrm>
            <a:off x="-349410" y="1610192"/>
            <a:ext cx="2788920" cy="457200"/>
          </a:xfrm>
          <a:prstGeom prst="rect">
            <a:avLst/>
          </a:prstGeom>
          <a:noFill/>
          <a:ln/>
        </p:spPr>
        <p:txBody>
          <a:bodyPr wrap="square" rtlCol="0" anchor="ctr"/>
          <a:lstStyle/>
          <a:p>
            <a:pPr marL="0" indent="0" algn="ctr">
              <a:buNone/>
            </a:pPr>
            <a:endParaRPr lang="en-US" sz="1500" dirty="0"/>
          </a:p>
        </p:txBody>
      </p:sp>
      <p:sp>
        <p:nvSpPr>
          <p:cNvPr id="35" name="Text 5">
            <a:extLst>
              <a:ext uri="{FF2B5EF4-FFF2-40B4-BE49-F238E27FC236}">
                <a16:creationId xmlns:a16="http://schemas.microsoft.com/office/drawing/2014/main" id="{7D08D072-1553-C156-C127-EB3AC9ADB549}"/>
              </a:ext>
            </a:extLst>
          </p:cNvPr>
          <p:cNvSpPr/>
          <p:nvPr/>
        </p:nvSpPr>
        <p:spPr>
          <a:xfrm>
            <a:off x="384048" y="1371600"/>
            <a:ext cx="2578608" cy="3246120"/>
          </a:xfrm>
          <a:prstGeom prst="rect">
            <a:avLst/>
          </a:prstGeom>
          <a:noFill/>
          <a:ln/>
        </p:spPr>
        <p:txBody>
          <a:bodyPr wrap="square" rtlCol="0" anchor="ctr"/>
          <a:lstStyle/>
          <a:p>
            <a:pPr>
              <a:spcAft>
                <a:spcPts val="800"/>
              </a:spcAft>
              <a:buSzPct val="100000"/>
            </a:pPr>
            <a:endParaRPr lang="en-US" sz="1250" dirty="0"/>
          </a:p>
        </p:txBody>
      </p:sp>
      <p:sp>
        <p:nvSpPr>
          <p:cNvPr id="36" name="Shape 6">
            <a:extLst>
              <a:ext uri="{FF2B5EF4-FFF2-40B4-BE49-F238E27FC236}">
                <a16:creationId xmlns:a16="http://schemas.microsoft.com/office/drawing/2014/main" id="{F4CD5D52-17B7-29BF-B35E-8F7FFC9B5641}"/>
              </a:ext>
            </a:extLst>
          </p:cNvPr>
          <p:cNvSpPr/>
          <p:nvPr/>
        </p:nvSpPr>
        <p:spPr>
          <a:xfrm>
            <a:off x="1568196" y="800100"/>
            <a:ext cx="2788920" cy="3977640"/>
          </a:xfrm>
          <a:prstGeom prst="rect">
            <a:avLst/>
          </a:prstGeom>
          <a:solidFill>
            <a:srgbClr val="0F2A3C"/>
          </a:solidFill>
          <a:ln w="12700">
            <a:solidFill>
              <a:srgbClr val="117A65"/>
            </a:solidFill>
            <a:prstDash val="solid"/>
          </a:ln>
          <a:effectLst>
            <a:outerShdw blurRad="101600" dist="38100" dir="8100000" algn="bl" rotWithShape="0">
              <a:srgbClr val="000000">
                <a:alpha val="12000"/>
              </a:srgbClr>
            </a:outerShdw>
          </a:effectLst>
        </p:spPr>
        <p:txBody>
          <a:bodyPr/>
          <a:lstStyle/>
          <a:p>
            <a:endParaRPr lang="en-IN"/>
          </a:p>
        </p:txBody>
      </p:sp>
      <p:sp>
        <p:nvSpPr>
          <p:cNvPr id="37" name="Shape 7">
            <a:extLst>
              <a:ext uri="{FF2B5EF4-FFF2-40B4-BE49-F238E27FC236}">
                <a16:creationId xmlns:a16="http://schemas.microsoft.com/office/drawing/2014/main" id="{611835FE-E0B1-B082-CEA2-35CBE504B545}"/>
              </a:ext>
            </a:extLst>
          </p:cNvPr>
          <p:cNvSpPr/>
          <p:nvPr/>
        </p:nvSpPr>
        <p:spPr>
          <a:xfrm>
            <a:off x="1568196" y="800100"/>
            <a:ext cx="2788920" cy="457200"/>
          </a:xfrm>
          <a:prstGeom prst="rect">
            <a:avLst/>
          </a:prstGeom>
          <a:solidFill>
            <a:srgbClr val="117A65"/>
          </a:solidFill>
          <a:ln w="12700">
            <a:solidFill>
              <a:srgbClr val="117A65"/>
            </a:solidFill>
            <a:prstDash val="solid"/>
          </a:ln>
        </p:spPr>
        <p:txBody>
          <a:bodyPr/>
          <a:lstStyle/>
          <a:p>
            <a:endParaRPr lang="en-IN"/>
          </a:p>
        </p:txBody>
      </p:sp>
      <p:sp>
        <p:nvSpPr>
          <p:cNvPr id="38" name="Text 8">
            <a:extLst>
              <a:ext uri="{FF2B5EF4-FFF2-40B4-BE49-F238E27FC236}">
                <a16:creationId xmlns:a16="http://schemas.microsoft.com/office/drawing/2014/main" id="{D06A762B-5191-5A94-F64E-FE481C0CDD2A}"/>
              </a:ext>
            </a:extLst>
          </p:cNvPr>
          <p:cNvSpPr/>
          <p:nvPr/>
        </p:nvSpPr>
        <p:spPr>
          <a:xfrm>
            <a:off x="1568196" y="800100"/>
            <a:ext cx="2788920" cy="457200"/>
          </a:xfrm>
          <a:prstGeom prst="rect">
            <a:avLst/>
          </a:prstGeom>
          <a:noFill/>
          <a:ln/>
        </p:spPr>
        <p:txBody>
          <a:bodyPr wrap="square" rtlCol="0" anchor="ctr"/>
          <a:lstStyle/>
          <a:p>
            <a:pPr marL="0" indent="0" algn="ctr">
              <a:buNone/>
            </a:pPr>
            <a:r>
              <a:rPr lang="en-US" sz="1500" b="1" dirty="0">
                <a:solidFill>
                  <a:srgbClr val="FFFFFF"/>
                </a:solidFill>
              </a:rPr>
              <a:t>MindWatch</a:t>
            </a:r>
            <a:endParaRPr lang="en-US" sz="1500" dirty="0"/>
          </a:p>
        </p:txBody>
      </p:sp>
      <p:sp>
        <p:nvSpPr>
          <p:cNvPr id="39" name="Text 9">
            <a:extLst>
              <a:ext uri="{FF2B5EF4-FFF2-40B4-BE49-F238E27FC236}">
                <a16:creationId xmlns:a16="http://schemas.microsoft.com/office/drawing/2014/main" id="{86F4F1B1-FF4B-6CC5-72EE-8753B8E1C4D8}"/>
              </a:ext>
            </a:extLst>
          </p:cNvPr>
          <p:cNvSpPr/>
          <p:nvPr/>
        </p:nvSpPr>
        <p:spPr>
          <a:xfrm>
            <a:off x="1677924" y="1348740"/>
            <a:ext cx="2578608" cy="3246120"/>
          </a:xfrm>
          <a:prstGeom prst="rect">
            <a:avLst/>
          </a:prstGeom>
          <a:noFill/>
          <a:ln/>
        </p:spPr>
        <p:txBody>
          <a:bodyPr wrap="square" rtlCol="0" anchor="ctr"/>
          <a:lstStyle/>
          <a:p>
            <a:pPr marL="342900" indent="-342900">
              <a:spcAft>
                <a:spcPts val="800"/>
              </a:spcAft>
              <a:buSzPct val="100000"/>
              <a:buChar char="•"/>
            </a:pPr>
            <a:r>
              <a:rPr lang="en-US" sz="1250" dirty="0">
                <a:solidFill>
                  <a:srgbClr val="A8D8F0"/>
                </a:solidFill>
                <a:latin typeface="Calibri" pitchFamily="34" charset="0"/>
                <a:ea typeface="Calibri" pitchFamily="34" charset="-122"/>
                <a:cs typeface="Calibri" pitchFamily="34" charset="-120"/>
              </a:rPr>
              <a:t>Deploy on wearable &amp; mobile devices for continuous monitoring</a:t>
            </a:r>
            <a:endParaRPr lang="en-US" sz="1250" dirty="0"/>
          </a:p>
          <a:p>
            <a:pPr marL="342900" indent="-342900">
              <a:spcAft>
                <a:spcPts val="800"/>
              </a:spcAft>
              <a:buSzPct val="100000"/>
              <a:buChar char="•"/>
            </a:pPr>
            <a:r>
              <a:rPr lang="en-US" sz="1250" dirty="0">
                <a:solidFill>
                  <a:srgbClr val="A8D8F0"/>
                </a:solidFill>
                <a:latin typeface="Calibri" pitchFamily="34" charset="0"/>
                <a:ea typeface="Calibri" pitchFamily="34" charset="-122"/>
                <a:cs typeface="Calibri" pitchFamily="34" charset="-120"/>
              </a:rPr>
              <a:t>Extend to real-world naturalistic settings (beyond lab)</a:t>
            </a:r>
            <a:endParaRPr lang="en-US" sz="1250" dirty="0"/>
          </a:p>
          <a:p>
            <a:pPr marL="342900" indent="-342900">
              <a:spcAft>
                <a:spcPts val="800"/>
              </a:spcAft>
              <a:buSzPct val="100000"/>
              <a:buChar char="•"/>
            </a:pPr>
            <a:r>
              <a:rPr lang="en-US" sz="1250" dirty="0">
                <a:solidFill>
                  <a:srgbClr val="A8D8F0"/>
                </a:solidFill>
                <a:latin typeface="Calibri" pitchFamily="34" charset="0"/>
                <a:ea typeface="Calibri" pitchFamily="34" charset="-122"/>
                <a:cs typeface="Calibri" pitchFamily="34" charset="-120"/>
              </a:rPr>
              <a:t>Add deep learning (LSTM) for temporal stress patterns</a:t>
            </a:r>
            <a:endParaRPr lang="en-US" sz="1250" dirty="0"/>
          </a:p>
        </p:txBody>
      </p:sp>
      <p:sp>
        <p:nvSpPr>
          <p:cNvPr id="40" name="Shape 10">
            <a:extLst>
              <a:ext uri="{FF2B5EF4-FFF2-40B4-BE49-F238E27FC236}">
                <a16:creationId xmlns:a16="http://schemas.microsoft.com/office/drawing/2014/main" id="{D10E0025-3C30-5A9F-2102-BB55B7D36993}"/>
              </a:ext>
            </a:extLst>
          </p:cNvPr>
          <p:cNvSpPr/>
          <p:nvPr/>
        </p:nvSpPr>
        <p:spPr>
          <a:xfrm>
            <a:off x="4512564" y="800100"/>
            <a:ext cx="2788920" cy="3977640"/>
          </a:xfrm>
          <a:prstGeom prst="rect">
            <a:avLst/>
          </a:prstGeom>
          <a:solidFill>
            <a:srgbClr val="0F2A3C"/>
          </a:solidFill>
          <a:ln w="12700">
            <a:solidFill>
              <a:srgbClr val="6E2F1A"/>
            </a:solidFill>
            <a:prstDash val="solid"/>
          </a:ln>
          <a:effectLst>
            <a:outerShdw blurRad="101600" dist="38100" dir="8100000" algn="bl" rotWithShape="0">
              <a:srgbClr val="000000">
                <a:alpha val="12000"/>
              </a:srgbClr>
            </a:outerShdw>
          </a:effectLst>
        </p:spPr>
        <p:txBody>
          <a:bodyPr/>
          <a:lstStyle/>
          <a:p>
            <a:endParaRPr lang="en-IN"/>
          </a:p>
        </p:txBody>
      </p:sp>
      <p:sp>
        <p:nvSpPr>
          <p:cNvPr id="41" name="Shape 11">
            <a:extLst>
              <a:ext uri="{FF2B5EF4-FFF2-40B4-BE49-F238E27FC236}">
                <a16:creationId xmlns:a16="http://schemas.microsoft.com/office/drawing/2014/main" id="{C474DFEC-2559-C1C5-AF16-ABC9BB58491E}"/>
              </a:ext>
            </a:extLst>
          </p:cNvPr>
          <p:cNvSpPr/>
          <p:nvPr/>
        </p:nvSpPr>
        <p:spPr>
          <a:xfrm>
            <a:off x="4512564" y="800100"/>
            <a:ext cx="2788920" cy="457200"/>
          </a:xfrm>
          <a:prstGeom prst="rect">
            <a:avLst/>
          </a:prstGeom>
          <a:solidFill>
            <a:srgbClr val="6E2F1A"/>
          </a:solidFill>
          <a:ln w="12700">
            <a:solidFill>
              <a:srgbClr val="6E2F1A"/>
            </a:solidFill>
            <a:prstDash val="solid"/>
          </a:ln>
        </p:spPr>
        <p:txBody>
          <a:bodyPr/>
          <a:lstStyle/>
          <a:p>
            <a:endParaRPr lang="en-IN"/>
          </a:p>
        </p:txBody>
      </p:sp>
      <p:sp>
        <p:nvSpPr>
          <p:cNvPr id="42" name="Text 12">
            <a:extLst>
              <a:ext uri="{FF2B5EF4-FFF2-40B4-BE49-F238E27FC236}">
                <a16:creationId xmlns:a16="http://schemas.microsoft.com/office/drawing/2014/main" id="{F57A54CA-AD6B-3AEE-46C9-139D2E2C668E}"/>
              </a:ext>
            </a:extLst>
          </p:cNvPr>
          <p:cNvSpPr/>
          <p:nvPr/>
        </p:nvSpPr>
        <p:spPr>
          <a:xfrm>
            <a:off x="4512564" y="800100"/>
            <a:ext cx="2788920" cy="457200"/>
          </a:xfrm>
          <a:prstGeom prst="rect">
            <a:avLst/>
          </a:prstGeom>
          <a:noFill/>
          <a:ln/>
        </p:spPr>
        <p:txBody>
          <a:bodyPr wrap="square" rtlCol="0" anchor="ctr"/>
          <a:lstStyle/>
          <a:p>
            <a:pPr marL="0" indent="0" algn="ctr">
              <a:buNone/>
            </a:pPr>
            <a:r>
              <a:rPr lang="en-US" sz="1500" b="1" dirty="0">
                <a:solidFill>
                  <a:srgbClr val="FFFFFF"/>
                </a:solidFill>
              </a:rPr>
              <a:t>Emotion System</a:t>
            </a:r>
            <a:endParaRPr lang="en-US" sz="1500" dirty="0"/>
          </a:p>
        </p:txBody>
      </p:sp>
      <p:sp>
        <p:nvSpPr>
          <p:cNvPr id="43" name="Text 13">
            <a:extLst>
              <a:ext uri="{FF2B5EF4-FFF2-40B4-BE49-F238E27FC236}">
                <a16:creationId xmlns:a16="http://schemas.microsoft.com/office/drawing/2014/main" id="{49CF16E3-4CFE-505C-88CE-87FEC557B543}"/>
              </a:ext>
            </a:extLst>
          </p:cNvPr>
          <p:cNvSpPr/>
          <p:nvPr/>
        </p:nvSpPr>
        <p:spPr>
          <a:xfrm>
            <a:off x="4622292" y="1348740"/>
            <a:ext cx="2578608" cy="3246120"/>
          </a:xfrm>
          <a:prstGeom prst="rect">
            <a:avLst/>
          </a:prstGeom>
          <a:noFill/>
          <a:ln/>
        </p:spPr>
        <p:txBody>
          <a:bodyPr wrap="square" rtlCol="0" anchor="ctr"/>
          <a:lstStyle/>
          <a:p>
            <a:pPr marL="342900" indent="-342900">
              <a:spcAft>
                <a:spcPts val="800"/>
              </a:spcAft>
              <a:buSzPct val="100000"/>
              <a:buChar char="•"/>
            </a:pPr>
            <a:r>
              <a:rPr lang="en-US" sz="1250" dirty="0">
                <a:solidFill>
                  <a:srgbClr val="A8D8F0"/>
                </a:solidFill>
                <a:latin typeface="Calibri" pitchFamily="34" charset="0"/>
                <a:ea typeface="Calibri" pitchFamily="34" charset="-122"/>
                <a:cs typeface="Calibri" pitchFamily="34" charset="-120"/>
              </a:rPr>
              <a:t>Add more physiological modalities &amp; contextual data</a:t>
            </a:r>
            <a:endParaRPr lang="en-US" sz="1250" dirty="0"/>
          </a:p>
          <a:p>
            <a:pPr marL="342900" indent="-342900">
              <a:spcAft>
                <a:spcPts val="800"/>
              </a:spcAft>
              <a:buSzPct val="100000"/>
              <a:buChar char="•"/>
            </a:pPr>
            <a:r>
              <a:rPr lang="en-US" sz="1250" dirty="0">
                <a:solidFill>
                  <a:srgbClr val="A8D8F0"/>
                </a:solidFill>
                <a:latin typeface="Calibri" pitchFamily="34" charset="0"/>
                <a:ea typeface="Calibri" pitchFamily="34" charset="-122"/>
                <a:cs typeface="Calibri" pitchFamily="34" charset="-120"/>
              </a:rPr>
              <a:t>Build personalized user models for individual differences</a:t>
            </a:r>
            <a:endParaRPr lang="en-US" sz="1250" dirty="0"/>
          </a:p>
          <a:p>
            <a:pPr marL="342900" indent="-342900">
              <a:spcAft>
                <a:spcPts val="800"/>
              </a:spcAft>
              <a:buSzPct val="100000"/>
              <a:buChar char="•"/>
            </a:pPr>
            <a:r>
              <a:rPr lang="en-US" sz="1250" dirty="0">
                <a:solidFill>
                  <a:srgbClr val="A8D8F0"/>
                </a:solidFill>
                <a:latin typeface="Calibri" pitchFamily="34" charset="0"/>
                <a:ea typeface="Calibri" pitchFamily="34" charset="-122"/>
                <a:cs typeface="Calibri" pitchFamily="34" charset="-120"/>
              </a:rPr>
              <a:t>Integrate all 3 frameworks into unified health monitoring platform</a:t>
            </a:r>
            <a:endParaRPr lang="en-US" sz="1250" dirty="0"/>
          </a:p>
        </p:txBody>
      </p:sp>
      <p:sp>
        <p:nvSpPr>
          <p:cNvPr id="44" name="Shape 14">
            <a:extLst>
              <a:ext uri="{FF2B5EF4-FFF2-40B4-BE49-F238E27FC236}">
                <a16:creationId xmlns:a16="http://schemas.microsoft.com/office/drawing/2014/main" id="{FD4BC923-93AE-6899-E788-513FF8F2B270}"/>
              </a:ext>
            </a:extLst>
          </p:cNvPr>
          <p:cNvSpPr/>
          <p:nvPr/>
        </p:nvSpPr>
        <p:spPr>
          <a:xfrm>
            <a:off x="0" y="4892040"/>
            <a:ext cx="9144000" cy="251460"/>
          </a:xfrm>
          <a:prstGeom prst="rect">
            <a:avLst/>
          </a:prstGeom>
          <a:solidFill>
            <a:srgbClr val="2E86AB"/>
          </a:solidFill>
          <a:ln w="12700">
            <a:solidFill>
              <a:srgbClr val="2E86AB"/>
            </a:solidFill>
            <a:prstDash val="solid"/>
          </a:ln>
        </p:spPr>
        <p:txBody>
          <a:bodyPr/>
          <a:lstStyle/>
          <a:p>
            <a:endParaRPr lang="en-IN"/>
          </a:p>
        </p:txBody>
      </p:sp>
      <p:sp>
        <p:nvSpPr>
          <p:cNvPr id="45" name="Text 15">
            <a:extLst>
              <a:ext uri="{FF2B5EF4-FFF2-40B4-BE49-F238E27FC236}">
                <a16:creationId xmlns:a16="http://schemas.microsoft.com/office/drawing/2014/main" id="{6301B7C1-97E4-8DE2-4287-CFC95DC1C137}"/>
              </a:ext>
            </a:extLst>
          </p:cNvPr>
          <p:cNvSpPr/>
          <p:nvPr/>
        </p:nvSpPr>
        <p:spPr>
          <a:xfrm>
            <a:off x="274320" y="4892040"/>
            <a:ext cx="8595360" cy="251460"/>
          </a:xfrm>
          <a:prstGeom prst="rect">
            <a:avLst/>
          </a:prstGeom>
          <a:noFill/>
          <a:ln/>
        </p:spPr>
        <p:txBody>
          <a:bodyPr wrap="square" rtlCol="0" anchor="ctr"/>
          <a:lstStyle/>
          <a:p>
            <a:pPr marL="0" indent="0" algn="ctr">
              <a:buNone/>
            </a:pPr>
            <a:r>
              <a:rPr lang="en-US" sz="1200" b="1" dirty="0">
                <a:solidFill>
                  <a:srgbClr val="FFFFFF"/>
                </a:solidFill>
              </a:rPr>
              <a:t>Vision: Unify all three frameworks into a single intelligent, interpretable, real-time Smart Healthcare Platform</a:t>
            </a:r>
            <a:endParaRPr lang="en-US" sz="1200" dirty="0"/>
          </a:p>
        </p:txBody>
      </p:sp>
      <p:pic>
        <p:nvPicPr>
          <p:cNvPr id="46" name="Picture 45">
            <a:extLst>
              <a:ext uri="{FF2B5EF4-FFF2-40B4-BE49-F238E27FC236}">
                <a16:creationId xmlns:a16="http://schemas.microsoft.com/office/drawing/2014/main" id="{8224F8EF-4743-A8C2-4391-2BADE21B73FE}"/>
              </a:ext>
            </a:extLst>
          </p:cNvPr>
          <p:cNvPicPr>
            <a:picLocks noChangeAspect="1"/>
          </p:cNvPicPr>
          <p:nvPr/>
        </p:nvPicPr>
        <p:blipFill>
          <a:blip r:embed="rId3"/>
          <a:stretch>
            <a:fillRect/>
          </a:stretch>
        </p:blipFill>
        <p:spPr>
          <a:xfrm>
            <a:off x="8191940" y="0"/>
            <a:ext cx="898279" cy="733163"/>
          </a:xfrm>
          <a:prstGeom prst="rect">
            <a:avLst/>
          </a:prstGeom>
        </p:spPr>
      </p:pic>
      <p:pic>
        <p:nvPicPr>
          <p:cNvPr id="47" name="Picture 46">
            <a:extLst>
              <a:ext uri="{FF2B5EF4-FFF2-40B4-BE49-F238E27FC236}">
                <a16:creationId xmlns:a16="http://schemas.microsoft.com/office/drawing/2014/main" id="{D711EB31-34BF-FE96-8E8E-10BE4E9B5B6E}"/>
              </a:ext>
            </a:extLst>
          </p:cNvPr>
          <p:cNvPicPr>
            <a:picLocks noChangeAspect="1"/>
          </p:cNvPicPr>
          <p:nvPr/>
        </p:nvPicPr>
        <p:blipFill>
          <a:blip r:embed="rId4"/>
          <a:stretch>
            <a:fillRect/>
          </a:stretch>
        </p:blipFill>
        <p:spPr>
          <a:xfrm>
            <a:off x="-77001" y="11097"/>
            <a:ext cx="1280160" cy="720423"/>
          </a:xfrm>
          <a:prstGeom prst="rect">
            <a:avLst/>
          </a:prstGeom>
        </p:spPr>
      </p:pic>
    </p:spTree>
    <p:extLst>
      <p:ext uri="{BB962C8B-B14F-4D97-AF65-F5344CB8AC3E}">
        <p14:creationId xmlns:p14="http://schemas.microsoft.com/office/powerpoint/2010/main" val="29177429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9FC"/>
        </a:solidFill>
        <a:effectLst/>
      </p:bgPr>
    </p:bg>
    <p:spTree>
      <p:nvGrpSpPr>
        <p:cNvPr id="1" name="">
          <a:extLst>
            <a:ext uri="{FF2B5EF4-FFF2-40B4-BE49-F238E27FC236}">
              <a16:creationId xmlns:a16="http://schemas.microsoft.com/office/drawing/2014/main" id="{ACC4BF87-0858-BAF9-0325-5B222B6B7CDE}"/>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6639859-D6C3-93B1-DC41-7A1C0EFF5809}"/>
              </a:ext>
            </a:extLst>
          </p:cNvPr>
          <p:cNvSpPr/>
          <p:nvPr/>
        </p:nvSpPr>
        <p:spPr>
          <a:xfrm>
            <a:off x="0" y="0"/>
            <a:ext cx="9144000" cy="685800"/>
          </a:xfrm>
          <a:prstGeom prst="rect">
            <a:avLst/>
          </a:prstGeom>
          <a:solidFill>
            <a:schemeClr val="accent5">
              <a:lumMod val="20000"/>
              <a:lumOff val="80000"/>
            </a:schemeClr>
          </a:solidFill>
          <a:ln w="12700">
            <a:solidFill>
              <a:srgbClr val="2E86AB"/>
            </a:solidFill>
            <a:prstDash val="solid"/>
          </a:ln>
        </p:spPr>
        <p:txBody>
          <a:bodyPr/>
          <a:lstStyle/>
          <a:p>
            <a:endParaRPr lang="en-IN"/>
          </a:p>
        </p:txBody>
      </p:sp>
      <p:sp>
        <p:nvSpPr>
          <p:cNvPr id="3" name="Text 1">
            <a:extLst>
              <a:ext uri="{FF2B5EF4-FFF2-40B4-BE49-F238E27FC236}">
                <a16:creationId xmlns:a16="http://schemas.microsoft.com/office/drawing/2014/main" id="{66AE014D-4BCF-139F-D77C-C8B544127556}"/>
              </a:ext>
            </a:extLst>
          </p:cNvPr>
          <p:cNvSpPr/>
          <p:nvPr/>
        </p:nvSpPr>
        <p:spPr>
          <a:xfrm>
            <a:off x="365760" y="0"/>
            <a:ext cx="8412480" cy="685800"/>
          </a:xfrm>
          <a:prstGeom prst="rect">
            <a:avLst/>
          </a:prstGeom>
          <a:noFill/>
          <a:ln/>
        </p:spPr>
        <p:txBody>
          <a:bodyPr wrap="square" rtlCol="0" anchor="ctr"/>
          <a:lstStyle/>
          <a:p>
            <a:pPr algn="ctr"/>
            <a:r>
              <a:rPr lang="en-IN" sz="2400" b="1" dirty="0">
                <a:latin typeface="Times New Roman" panose="02020603050405020304" pitchFamily="18" charset="0"/>
                <a:cs typeface="Times New Roman" panose="02020603050405020304" pitchFamily="18" charset="0"/>
              </a:rPr>
              <a:t>REFERENCES</a:t>
            </a:r>
            <a:endParaRPr lang="en-US" sz="2400" b="1" dirty="0">
              <a:latin typeface="Times New Roman" panose="02020603050405020304" pitchFamily="18" charset="0"/>
              <a:cs typeface="Times New Roman" panose="02020603050405020304" pitchFamily="18" charset="0"/>
            </a:endParaRPr>
          </a:p>
        </p:txBody>
      </p:sp>
      <p:pic>
        <p:nvPicPr>
          <p:cNvPr id="46" name="Picture 45">
            <a:extLst>
              <a:ext uri="{FF2B5EF4-FFF2-40B4-BE49-F238E27FC236}">
                <a16:creationId xmlns:a16="http://schemas.microsoft.com/office/drawing/2014/main" id="{58F0C8B6-5E85-FAED-7349-60E1EE86E212}"/>
              </a:ext>
            </a:extLst>
          </p:cNvPr>
          <p:cNvPicPr>
            <a:picLocks noChangeAspect="1"/>
          </p:cNvPicPr>
          <p:nvPr/>
        </p:nvPicPr>
        <p:blipFill>
          <a:blip r:embed="rId3"/>
          <a:stretch>
            <a:fillRect/>
          </a:stretch>
        </p:blipFill>
        <p:spPr>
          <a:xfrm>
            <a:off x="8191940" y="0"/>
            <a:ext cx="898279" cy="733163"/>
          </a:xfrm>
          <a:prstGeom prst="rect">
            <a:avLst/>
          </a:prstGeom>
        </p:spPr>
      </p:pic>
      <p:pic>
        <p:nvPicPr>
          <p:cNvPr id="47" name="Picture 46">
            <a:extLst>
              <a:ext uri="{FF2B5EF4-FFF2-40B4-BE49-F238E27FC236}">
                <a16:creationId xmlns:a16="http://schemas.microsoft.com/office/drawing/2014/main" id="{D385F93A-A308-77DE-5AEC-AF21D78E48E6}"/>
              </a:ext>
            </a:extLst>
          </p:cNvPr>
          <p:cNvPicPr>
            <a:picLocks noChangeAspect="1"/>
          </p:cNvPicPr>
          <p:nvPr/>
        </p:nvPicPr>
        <p:blipFill>
          <a:blip r:embed="rId4"/>
          <a:stretch>
            <a:fillRect/>
          </a:stretch>
        </p:blipFill>
        <p:spPr>
          <a:xfrm>
            <a:off x="-77001" y="11097"/>
            <a:ext cx="1280160" cy="720423"/>
          </a:xfrm>
          <a:prstGeom prst="rect">
            <a:avLst/>
          </a:prstGeom>
        </p:spPr>
      </p:pic>
      <p:sp>
        <p:nvSpPr>
          <p:cNvPr id="5" name="TextBox 4">
            <a:extLst>
              <a:ext uri="{FF2B5EF4-FFF2-40B4-BE49-F238E27FC236}">
                <a16:creationId xmlns:a16="http://schemas.microsoft.com/office/drawing/2014/main" id="{571E3883-62E7-243C-482C-41CF959D2AEF}"/>
              </a:ext>
            </a:extLst>
          </p:cNvPr>
          <p:cNvSpPr txBox="1"/>
          <p:nvPr/>
        </p:nvSpPr>
        <p:spPr>
          <a:xfrm>
            <a:off x="290286" y="936171"/>
            <a:ext cx="8701314" cy="3139321"/>
          </a:xfrm>
          <a:prstGeom prst="rect">
            <a:avLst/>
          </a:prstGeom>
          <a:noFill/>
        </p:spPr>
        <p:txBody>
          <a:bodyPr wrap="square" rtlCol="0">
            <a:spAutoFit/>
          </a:bodyPr>
          <a:lstStyle/>
          <a:p>
            <a:pPr marL="342900" indent="-342900">
              <a:buFont typeface="+mj-lt"/>
              <a:buAutoNum type="arabicPeriod"/>
            </a:pPr>
            <a:r>
              <a:rPr lang="en-IN" dirty="0"/>
              <a:t>R. M. Rad, P. Saeedi, J. Au, and J. Havelock, “Predicting human embryos’ implantation outcome from a single blastocyst image,” in Proc. 41st Annu. Int. Conf. IEEE Eng. Med. Biol. Soc. (EMBC), Berlin, Germany, Jul. 2019, pp. 920–924. </a:t>
            </a:r>
          </a:p>
          <a:p>
            <a:pPr marL="342900" indent="-342900">
              <a:buFont typeface="+mj-lt"/>
              <a:buAutoNum type="arabicPeriod"/>
            </a:pPr>
            <a:r>
              <a:rPr lang="en-IN" dirty="0"/>
              <a:t>Ritu Jain and Gaurav Mehta. An ensemble-based framework for stress detection using wearable sensor data. Journal of Ambient Intelligence and Humanized Computing, 14(2):1675–1690, 2023. </a:t>
            </a:r>
          </a:p>
          <a:p>
            <a:pPr marL="342900" indent="-342900">
              <a:buFont typeface="+mj-lt"/>
              <a:buAutoNum type="arabicPeriod"/>
            </a:pPr>
            <a:r>
              <a:rPr lang="en-IN" dirty="0" err="1"/>
              <a:t>Koelstra</a:t>
            </a:r>
            <a:r>
              <a:rPr lang="en-IN" dirty="0"/>
              <a:t>, S. et al., “DEAP: A Database for Emotion Analysis Using Physiological Signals”, IEEE, 2012.</a:t>
            </a:r>
          </a:p>
          <a:p>
            <a:pPr marL="342900" indent="-342900">
              <a:buFont typeface="+mj-lt"/>
              <a:buAutoNum type="arabicPeriod"/>
            </a:pPr>
            <a:r>
              <a:rPr lang="en-IN" dirty="0"/>
              <a:t>Healey, J., “Wearable and Automotive Systems for Affect Recognition”, MIT, 2000.</a:t>
            </a:r>
          </a:p>
          <a:p>
            <a:pPr marL="342900" indent="-342900">
              <a:buFont typeface="+mj-lt"/>
              <a:buAutoNum type="arabicPeriod"/>
            </a:pPr>
            <a:r>
              <a:rPr lang="en-IN" dirty="0"/>
              <a:t>T. Baczkowski, R. Kurzawa and W. </a:t>
            </a:r>
            <a:r>
              <a:rPr lang="en-IN" dirty="0" err="1"/>
              <a:t>Glabowski</a:t>
            </a:r>
            <a:r>
              <a:rPr lang="en-IN" dirty="0"/>
              <a:t>, “Methods of embryo scoring in in vitro fertilization,” Reproductive biology, vol. 4, no. 1, pp. 5–22, 2004. </a:t>
            </a:r>
          </a:p>
        </p:txBody>
      </p:sp>
    </p:spTree>
    <p:extLst>
      <p:ext uri="{BB962C8B-B14F-4D97-AF65-F5344CB8AC3E}">
        <p14:creationId xmlns:p14="http://schemas.microsoft.com/office/powerpoint/2010/main" val="36161529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1722</TotalTime>
  <Words>1209</Words>
  <Application>Microsoft Office PowerPoint</Application>
  <PresentationFormat>On-screen Show (16:9)</PresentationFormat>
  <Paragraphs>214</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Smart Healthcare</dc:title>
  <dc:subject>PptxGenJS Presentation</dc:subject>
  <dc:creator>PptxGenJS</dc:creator>
  <cp:lastModifiedBy>Shilpa Banerjee</cp:lastModifiedBy>
  <cp:revision>13</cp:revision>
  <dcterms:created xsi:type="dcterms:W3CDTF">2026-04-07T16:09:09Z</dcterms:created>
  <dcterms:modified xsi:type="dcterms:W3CDTF">2026-06-15T05:35:53Z</dcterms:modified>
</cp:coreProperties>
</file>